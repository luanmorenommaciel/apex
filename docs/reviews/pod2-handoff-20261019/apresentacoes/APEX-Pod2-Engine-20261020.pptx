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38f2d019b54a74" /><Relationship Type="http://schemas.openxmlformats.org/officeDocument/2006/relationships/extended-properties" Target="/docProps/app.xml" Id="R0f2d664955314fa4" /><Relationship Type="http://schemas.openxmlformats.org/officeDocument/2006/relationships/officeDocument" Target="/ppt/presentation.xml" Id="R27cf60839c9240f1" /></Relationships>
</file>

<file path=ppt/presentation.xml><?xml version="1.0" encoding="utf-8"?>
<p:presentation xmlns:p="http://schemas.openxmlformats.org/presentationml/2006/main">
  <p:sldMasterIdLst>
    <p:sldMasterId xmlns:r="http://schemas.openxmlformats.org/officeDocument/2006/relationships" id="2147483648" r:id="Rfeffe408ed104ef4"/>
  </p:sldMasterIdLst>
  <p:notesMasterIdLst>
    <p:notesMasterId xmlns:r="http://schemas.openxmlformats.org/officeDocument/2006/relationships" r:id="Rfb17bc0d93194f04"/>
  </p:notesMasterIdLst>
  <p:sldIdLst>
    <p:sldId xmlns:r="http://schemas.openxmlformats.org/officeDocument/2006/relationships" id="256" r:id="Rc8dd6425d7364dcb"/>
    <p:sldId xmlns:r="http://schemas.openxmlformats.org/officeDocument/2006/relationships" id="257" r:id="Re6d5ae0be9904237"/>
    <p:sldId xmlns:r="http://schemas.openxmlformats.org/officeDocument/2006/relationships" id="258" r:id="Rc68bb63e2d5146ad"/>
    <p:sldId xmlns:r="http://schemas.openxmlformats.org/officeDocument/2006/relationships" id="259" r:id="Rdd0c861cb9b24f09"/>
    <p:sldId xmlns:r="http://schemas.openxmlformats.org/officeDocument/2006/relationships" id="260" r:id="R0f9afb6b640b43da"/>
    <p:sldId xmlns:r="http://schemas.openxmlformats.org/officeDocument/2006/relationships" id="261" r:id="Ra23c8e812866471d"/>
    <p:sldId xmlns:r="http://schemas.openxmlformats.org/officeDocument/2006/relationships" id="262" r:id="R6bc4ffb2a22e405a"/>
    <p:sldId xmlns:r="http://schemas.openxmlformats.org/officeDocument/2006/relationships" id="263" r:id="R2a9746eddd624c57"/>
    <p:sldId xmlns:r="http://schemas.openxmlformats.org/officeDocument/2006/relationships" id="264" r:id="R778e50dfc7754b92"/>
    <p:sldId xmlns:r="http://schemas.openxmlformats.org/officeDocument/2006/relationships" id="265" r:id="R3d30c10b4750418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5b860748734597" /><Relationship Type="http://schemas.openxmlformats.org/officeDocument/2006/relationships/slideMaster" Target="/ppt/slideMasters/slideMaster1.xml" Id="Rfeffe408ed104ef4" /><Relationship Type="http://schemas.openxmlformats.org/officeDocument/2006/relationships/notesMaster" Target="/ppt/notesMasters/notesMaster1.xml" Id="Rfb17bc0d93194f04" /><Relationship Type="http://schemas.openxmlformats.org/officeDocument/2006/relationships/presProps" Target="/ppt/presProps.xml" Id="R8a267c901a374d4e" /><Relationship Type="http://schemas.openxmlformats.org/officeDocument/2006/relationships/tableStyles" Target="/ppt/tableStyles.xml" Id="R1f15340dd1c5407b" /><Relationship Type="http://schemas.openxmlformats.org/officeDocument/2006/relationships/slide" Target="/ppt/slides/slide1.xml" Id="Rc8dd6425d7364dcb" /><Relationship Type="http://schemas.openxmlformats.org/officeDocument/2006/relationships/slide" Target="/ppt/slides/slide2.xml" Id="Re6d5ae0be9904237" /><Relationship Type="http://schemas.openxmlformats.org/officeDocument/2006/relationships/slide" Target="/ppt/slides/slide3.xml" Id="Rc68bb63e2d5146ad" /><Relationship Type="http://schemas.openxmlformats.org/officeDocument/2006/relationships/slide" Target="/ppt/slides/slide4.xml" Id="Rdd0c861cb9b24f09" /><Relationship Type="http://schemas.openxmlformats.org/officeDocument/2006/relationships/slide" Target="/ppt/slides/slide5.xml" Id="R0f9afb6b640b43da" /><Relationship Type="http://schemas.openxmlformats.org/officeDocument/2006/relationships/slide" Target="/ppt/slides/slide6.xml" Id="Ra23c8e812866471d" /><Relationship Type="http://schemas.openxmlformats.org/officeDocument/2006/relationships/slide" Target="/ppt/slides/slide7.xml" Id="R6bc4ffb2a22e405a" /><Relationship Type="http://schemas.openxmlformats.org/officeDocument/2006/relationships/slide" Target="/ppt/slides/slide8.xml" Id="R2a9746eddd624c57" /><Relationship Type="http://schemas.openxmlformats.org/officeDocument/2006/relationships/slide" Target="/ppt/slides/slide9.xml" Id="R778e50dfc7754b92" /><Relationship Type="http://schemas.openxmlformats.org/officeDocument/2006/relationships/slide" Target="/ppt/slides/slide10.xml" Id="R3d30c10b475041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958707b5394e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b00bc232164ed8" /><Relationship Type="http://schemas.openxmlformats.org/officeDocument/2006/relationships/notesMaster" Target="/ppt/notesMasters/notesMaster1.xml" Id="R10a1610fcf374c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71c694346848f6" /><Relationship Type="http://schemas.openxmlformats.org/officeDocument/2006/relationships/notesMaster" Target="/ppt/notesMasters/notesMaster1.xml" Id="Rd68bd908b2fd4e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6e3e3e56624770" /><Relationship Type="http://schemas.openxmlformats.org/officeDocument/2006/relationships/notesMaster" Target="/ppt/notesMasters/notesMaster1.xml" Id="Rdb816bb1ae7445f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7170382767408f" /><Relationship Type="http://schemas.openxmlformats.org/officeDocument/2006/relationships/notesMaster" Target="/ppt/notesMasters/notesMaster1.xml" Id="R91697c96176448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e6d0b7231344bc" /><Relationship Type="http://schemas.openxmlformats.org/officeDocument/2006/relationships/notesMaster" Target="/ppt/notesMasters/notesMaster1.xml" Id="R707229b73acc4f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c30eebf03b47dd" /><Relationship Type="http://schemas.openxmlformats.org/officeDocument/2006/relationships/notesMaster" Target="/ppt/notesMasters/notesMaster1.xml" Id="Rf3df5d07271e48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5e02c7e79f4fd4" /><Relationship Type="http://schemas.openxmlformats.org/officeDocument/2006/relationships/notesMaster" Target="/ppt/notesMasters/notesMaster1.xml" Id="R5554790b19074c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5de35381bb42a8" /><Relationship Type="http://schemas.openxmlformats.org/officeDocument/2006/relationships/notesMaster" Target="/ppt/notesMasters/notesMaster1.xml" Id="R43711fee4c634217"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6f3c7cab2e44dc" /><Relationship Type="http://schemas.openxmlformats.org/officeDocument/2006/relationships/notesMaster" Target="/ppt/notesMasters/notesMaster1.xml" Id="R003bbc3aad9143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b57b7909f2b4b1a" /><Relationship Type="http://schemas.openxmlformats.org/officeDocument/2006/relationships/notesMaster" Target="/ppt/notesMasters/notesMaster1.xml" Id="Rb8821708372a46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é minha leitura para contribuir com o planejamento do time. Autoria da base compartilhada e limites das provas permanecem explícitos. O corte documental foi reconferido em 20/10/2026, com main c3c3ea3. Não representa liberação de release nem decisão oficial do pod.</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https://github.com/luanmorenommaciel/apex/issues/190</a:t>
            </a:r>
          </a:p>
          <a:p xmlns:a="http://schemas.openxmlformats.org/drawingml/2006/main">
            <a:r>
              <a:t>https://github.com/luanmorenommaciel/apex/blob/faf8b5723abd7cd0905137e574d515216f74d287/docs/reviews/pr-revalidation-20261019/README.md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catálogo distingue autor da PR, autor de commit e quem fez o merge. #52 e #54 foram encerradas sem merge e não entram como entregas integradas. A #185 não transfere autoria ao Pod 2. A atualização da matriz na #121 é de Luan.</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https://github.com/luanmorenommaciel/apex/blob/db2703c36e407883b610bdf0ed7fdef1dd689835/docs/reviews/pod2-handoff-20261019/ENTREGAS-E-AUTORIA.md</a:t>
            </a:r>
          </a:p>
          <a:p xmlns:a="http://schemas.openxmlformats.org/drawingml/2006/main">
            <a:r>
              <a:t>https://github.com/luanmorenommaciel/apex/pull/185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resolvedor #126 não entrega sozinho consumidor público da #115. O gate #127 mantém os critérios específicos da #123. #131 detecta incompatibilidade, não provisiona outro database. #139 retirou job_id e attributes das exclusões, sem remover a allowlist inteira.</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https://github.com/luanmorenommaciel/apex/blob/db2703c36e407883b610bdf0ed7fdef1dd689835/docs/reviews/pod2-handoff-20261019/ENTREGAS-E-AUTORIA.md</a:t>
            </a:r>
          </a:p>
          <a:p xmlns:a="http://schemas.openxmlformats.org/drawingml/2006/main">
            <a:r>
              <a:t>https://github.com/luanmorenommaciel/apex/blob/db2703c36e407883b610bdf0ed7fdef1dd689835/docs/reviews/pod2-handoff-20261019/EXEMPLOS-ANTES-E-DEPOIS.md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 alterações já integradas não foram reexecutadas para esta apresentação. Os contracasos do resolvedor devem ser reutilizados quando um consumidor for escolhido. Preflight e teste estático não demonstram compatibilidade do DDL instalado em todo ambiente.</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https://github.com/luanmorenommaciel/apex/blob/db2703c36e407883b610bdf0ed7fdef1dd689835/docs/reviews/pod2-handoff-20261019/EXEMPLOS-ANTES-E-DEPOIS.md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plano único do dispatcher na #128 explicita Handler/Command. DryRun compara um plano, mas não prova execução do Command. O residual continua na #124. A #147 mantém os limites do parser e não prova replay completo de todo DDL.</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https://github.com/luanmorenommaciel/apex/blob/db2703c36e407883b610bdf0ed7fdef1dd689835/docs/reviews/pod2-handoff-20261019/ENTREGAS-E-AUTORIA.md</a:t>
            </a:r>
          </a:p>
          <a:p xmlns:a="http://schemas.openxmlformats.org/drawingml/2006/main">
            <a:r>
              <a:t>https://github.com/luanmorenommaciel/apex/issues/124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revisão estática não depende de benchmark, browser ou decisão global de infraestrutura. A causa de um check falho exige ler o job e seu alcance. Não declarar defeito de código apenas pela conclusão failure. Os recibos do corte estão no estudo.</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https://github.com/luanmorenommaciel/apex/pull/155</a:t>
            </a:r>
          </a:p>
          <a:p xmlns:a="http://schemas.openxmlformats.org/drawingml/2006/main">
            <a:r>
              <a:t>https://github.com/luanmorenommaciel/apex/issues/154</a:t>
            </a:r>
          </a:p>
          <a:p xmlns:a="http://schemas.openxmlformats.org/drawingml/2006/main">
            <a:r>
              <a:t>https://github.com/luanmorenommaciel/apex/blob/db2703c36e407883b610bdf0ed7fdef1dd689835/docs/reviews/pod2-handoff-20261019/DECISOES-E-PLANO.md</a:t>
            </a:r>
          </a:p>
          <a:p xmlns:a="http://schemas.openxmlformats.org/drawingml/2006/main">
            <a:r>
              <a:t>https://github.com/luanmorenommaciel/apex/blob/faf8b5723abd7cd0905137e574d515216f74d287/docs/reviews/pr-revalidation-20261019/README.md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contribuição é do Agmar/Pod 3 e precisa ser reaproveitada antes de criar implementação paralela. Os resultados são relatos do autor não reproduzidos nesta auditoria. Credenciais literais de Spark foram removidas, mas defaults locais MinIO continuam documentados. Não inferir incidente ou equivalente pleno entre PowerShell e Bash.</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https://github.com/luanmorenommaciel/apex/pull/185</a:t>
            </a:r>
          </a:p>
          <a:p xmlns:a="http://schemas.openxmlformats.org/drawingml/2006/main">
            <a:r>
              <a:t>https://github.com/luanmorenommaciel/apex/blob/db2703c36e407883b610bdf0ed7fdef1dd689835/docs/reviews/pod2-handoff-20261019/README.md</a:t>
            </a:r>
          </a:p>
          <a:p xmlns:a="http://schemas.openxmlformats.org/drawingml/2006/main">
            <a:r>
              <a:t>https://github.com/luanmorenommaciel/apex/blob/faf8b5723abd7cd0905137e574d515216f74d287/docs/reviews/pr-revalidation-20261019/README.md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Preservar os critérios #174 e #178 separados ao comparar runners. Para #124, handlers inofensivos e controle negativo permitem desenhar teste sem operar stack. A revisão deve indicar revisor, saída e retorno a combinar.</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https://github.com/luanmorenommaciel/apex/blob/db2703c36e407883b610bdf0ed7fdef1dd689835/docs/reviews/pod2-handoff-20261019/DECISOES-E-PLANO.md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Não enfraquecer silenciosamente um critério para encerrar uma issue. O launcher não prova overhead. Nome fixo de container não prova propriedade. Escolher um consumidor ou uma garantia por vez permite manter as entregas pequenas e verificáveis.</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https://github.com/luanmorenommaciel/apex/blob/db2703c36e407883b610bdf0ed7fdef1dd689835/docs/reviews/pod2-handoff-20261019/PERGUNTAS-DE-DECISAO.md</a:t>
            </a:r>
          </a:p>
          <a:p xmlns:a="http://schemas.openxmlformats.org/drawingml/2006/main">
            <a:r>
              <a:t>https://github.com/luanmorenommaciel/apex/blob/db2703c36e407883b610bdf0ed7fdef1dd689835/docs/reviews/pod2-handoff-20261019/IDEIAS-E-BACKLOG.md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catálogo relaciona 30 objetos atuais e 133 fichas originais. Isso não representa 133 entregas do Pod 2 nem uma soma de testes independentes. Responsáveis e datas ainda dependem de acordo real. Os pacotes documentais permanecem em rascunho no corte.</a:t>
            </a:r>
          </a:p>
          <a:p xmlns:a="http://schemas.openxmlformats.org/drawingml/2006/main">
            <a:r>
              <a:t/>
            </a:r>
          </a:p>
          <a:p xmlns:a="http://schemas.openxmlformats.org/drawingml/2006/main">
            <a:r>
              <a:t>Corte documental: 20/10/2026. Main c3c3ea3.</a:t>
            </a:r>
          </a:p>
          <a:p xmlns:a="http://schemas.openxmlformats.org/drawingml/2006/main">
            <a:r>
              <a:t>Fontes:</a:t>
            </a:r>
          </a:p>
          <a:p xmlns:a="http://schemas.openxmlformats.org/drawingml/2006/main">
            <a:r>
              <a:t>https://github.com/luanmorenommaciel/apex/issues/190</a:t>
            </a:r>
          </a:p>
          <a:p xmlns:a="http://schemas.openxmlformats.org/drawingml/2006/main">
            <a:r>
              <a:t>https://github.com/luanmorenommaciel/apex/pull/189</a:t>
            </a:r>
          </a:p>
          <a:p xmlns:a="http://schemas.openxmlformats.org/drawingml/2006/main">
            <a:r>
              <a:t>https://github.com/luanmorenommaciel/apex/pull/186</a:t>
            </a:r>
          </a:p>
          <a:p xmlns:a="http://schemas.openxmlformats.org/drawingml/2006/main">
            <a:r>
              <a:t>https://github.com/luanmorenommaciel/apex/blob/faf8b5723abd7cd0905137e574d515216f74d287/docs/reviews/pr-revalidation-20261019/README.md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16b13a6ddc34a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40d681b6894dc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9e90d73f0a4d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1efc6a0ca341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6fb70bc28450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bd1c72e7fbc43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4969D9-785B-4B8B-A67F-D1AAB5D893B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E4B21E7-B7F7-416F-B169-5BD45FF21C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411E28-C5BA-463F-8009-AF729C3E85A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C4CA41-1AB8-441B-8474-0CB4A284AB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F255EBB-7457-4A83-B2A7-95820106D9E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19AF931-D766-4670-91ED-5DDFA1D723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2923FDA-A56C-4252-B005-5C93D4A565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EA7BB30-E226-4AB0-ADEF-AE5AD132149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0224F9-E5E3-47BB-8EF8-B32D5AA3B8C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023CF15-9095-416D-AA5C-0F470CEC37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86ab31c84c44be" /><Relationship Type="http://schemas.openxmlformats.org/officeDocument/2006/relationships/slideLayout" Target="/ppt/slideLayouts/slideLayout1.xml" Id="Rf570500fba6341bb" /><Relationship Type="http://schemas.openxmlformats.org/officeDocument/2006/relationships/slideLayout" Target="/ppt/slideLayouts/slideLayout2.xml" Id="R5765202943ba4045" /><Relationship Type="http://schemas.openxmlformats.org/officeDocument/2006/relationships/slideLayout" Target="/ppt/slideLayouts/slideLayout3.xml" Id="R5b1822ef84064947" /><Relationship Type="http://schemas.openxmlformats.org/officeDocument/2006/relationships/slideLayout" Target="/ppt/slideLayouts/slideLayout4.xml" Id="R88bf4157b8cb42e1" /><Relationship Type="http://schemas.openxmlformats.org/officeDocument/2006/relationships/slideLayout" Target="/ppt/slideLayouts/slideLayout5.xml" Id="R8a72ea78c4f74eaa" /><Relationship Type="http://schemas.openxmlformats.org/officeDocument/2006/relationships/slideLayout" Target="/ppt/slideLayouts/slideLayout6.xml" Id="Rde96f64d91cb46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570500fba6341bb"/>
    <p:sldLayoutId xmlns:r="http://schemas.openxmlformats.org/officeDocument/2006/relationships" id="2147483650" r:id="R5765202943ba4045"/>
    <p:sldLayoutId xmlns:r="http://schemas.openxmlformats.org/officeDocument/2006/relationships" id="2147483651" r:id="R5b1822ef84064947"/>
    <p:sldLayoutId xmlns:r="http://schemas.openxmlformats.org/officeDocument/2006/relationships" id="2147483652" r:id="R88bf4157b8cb42e1"/>
    <p:sldLayoutId xmlns:r="http://schemas.openxmlformats.org/officeDocument/2006/relationships" id="2147483653" r:id="R8a72ea78c4f74eaa"/>
    <p:sldLayoutId xmlns:r="http://schemas.openxmlformats.org/officeDocument/2006/relationships" id="2147483654" r:id="Rde96f64d91cb46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479923cf7fb4d7a" /><Relationship Type="http://schemas.openxmlformats.org/officeDocument/2006/relationships/hyperlink" Target="https://github.com/luanmorenommaciel/apex/issues/190" TargetMode="External" Id="Rc04a066a42fd4817" /><Relationship Type="http://schemas.openxmlformats.org/officeDocument/2006/relationships/notesSlide" Target="/ppt/notesSlides/notesSlide1.xml" Id="R1db6bf7a543d40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75e325b1f684a20" /><Relationship Type="http://schemas.openxmlformats.org/officeDocument/2006/relationships/hyperlink" Target="https://github.com/luanmorenommaciel/apex/issues/190" TargetMode="External" Id="R7022b27602b84632" /><Relationship Type="http://schemas.openxmlformats.org/officeDocument/2006/relationships/notesSlide" Target="/ppt/notesSlides/notesSlide2.xml" Id="R56f6cae11c4f43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ca2fd7966b84e9c" /><Relationship Type="http://schemas.openxmlformats.org/officeDocument/2006/relationships/hyperlink" Target="https://github.com/luanmorenommaciel/apex/issues/190" TargetMode="External" Id="Re900fc578d5a40c9" /><Relationship Type="http://schemas.openxmlformats.org/officeDocument/2006/relationships/notesSlide" Target="/ppt/notesSlides/notesSlide3.xml" Id="R7c51c3f004ee4b8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531e266302a4b5d" /><Relationship Type="http://schemas.openxmlformats.org/officeDocument/2006/relationships/hyperlink" Target="https://github.com/luanmorenommaciel/apex/issues/190" TargetMode="External" Id="R0178b2d6eed44b7d" /><Relationship Type="http://schemas.openxmlformats.org/officeDocument/2006/relationships/notesSlide" Target="/ppt/notesSlides/notesSlide4.xml" Id="R30f512978efd40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0cfb706840640d6" /><Relationship Type="http://schemas.openxmlformats.org/officeDocument/2006/relationships/hyperlink" Target="https://github.com/luanmorenommaciel/apex/issues/190" TargetMode="External" Id="Rd014ac7d0ec64294" /><Relationship Type="http://schemas.openxmlformats.org/officeDocument/2006/relationships/notesSlide" Target="/ppt/notesSlides/notesSlide5.xml" Id="Re5b3a8ab7f6a4e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1a81f136524295" /><Relationship Type="http://schemas.openxmlformats.org/officeDocument/2006/relationships/hyperlink" Target="https://github.com/luanmorenommaciel/apex/issues/190" TargetMode="External" Id="Reec7b8cb7f9c4f7a" /><Relationship Type="http://schemas.openxmlformats.org/officeDocument/2006/relationships/notesSlide" Target="/ppt/notesSlides/notesSlide6.xml" Id="R8e1f60ead6f84b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2d4b93a50e94610" /><Relationship Type="http://schemas.openxmlformats.org/officeDocument/2006/relationships/hyperlink" Target="https://github.com/luanmorenommaciel/apex/issues/190" TargetMode="External" Id="R4032109968474a39" /><Relationship Type="http://schemas.openxmlformats.org/officeDocument/2006/relationships/notesSlide" Target="/ppt/notesSlides/notesSlide7.xml" Id="Re794b60754df4d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88b0b9f292b4adb" /><Relationship Type="http://schemas.openxmlformats.org/officeDocument/2006/relationships/hyperlink" Target="https://github.com/luanmorenommaciel/apex/issues/190" TargetMode="External" Id="Re43abae650074b26" /><Relationship Type="http://schemas.openxmlformats.org/officeDocument/2006/relationships/notesSlide" Target="/ppt/notesSlides/notesSlide8.xml" Id="R2073c6478c8048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e3bc2ffa7ff4f10" /><Relationship Type="http://schemas.openxmlformats.org/officeDocument/2006/relationships/hyperlink" Target="https://github.com/luanmorenommaciel/apex/issues/190" TargetMode="External" Id="R1f7047440a664f08" /><Relationship Type="http://schemas.openxmlformats.org/officeDocument/2006/relationships/notesSlide" Target="/ppt/notesSlides/notesSlide9.xml" Id="Rb574fe9f951049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c1b62f57e214fc7" /><Relationship Type="http://schemas.openxmlformats.org/officeDocument/2006/relationships/hyperlink" Target="https://github.com/luanmorenommaciel/apex/issues/190" TargetMode="External" Id="R06fcfed6c5d34c95" /><Relationship Type="http://schemas.openxmlformats.org/officeDocument/2006/relationships/notesSlide" Target="/ppt/notesSlides/notesSlide10.xml" Id="Re9db4bdba1e344be" /></Relationships>
</file>

<file path=ppt/slides/slide1.xml><?xml version="1.0" encoding="utf-8"?>
<p:sld xmlns:p="http://schemas.openxmlformats.org/presentationml/2006/main">
  <p:cSld>
    <p:bg>
      <p:bgPr>
        <a:solidFill xmlns:a="http://schemas.openxmlformats.org/drawingml/2006/main">
          <a:srgbClr val="152C3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237B11-7D24-416F-88BC-1F5DC88CD493}"/>
              </a:ext>
            </a:extLst>
          </p:cNvPr>
          <p:cNvSpPr>
            <a:spLocks xmlns:a="http://schemas.openxmlformats.org/drawingml/2006/main" noGrp="1"/>
          </p:cNvSpPr>
          <p:nvPr/>
        </p:nvSpPr>
        <p:spPr>
          <a:xfrm xmlns:a="http://schemas.openxmlformats.org/drawingml/2006/main">
            <a:off x="685800" y="6477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55C7CB"/>
                </a:solidFill>
                <a:latin typeface="Arial"/>
                <a:ea typeface="Arial"/>
                <a:cs typeface="Arial"/>
              </a:defRPr>
            </a:defPPr>
            <a:lvl1pPr>
              <a:defRPr sz="2100" b="1">
                <a:solidFill>
                  <a:srgbClr val="55C7CB"/>
                </a:solidFill>
                <a:latin typeface="Arial"/>
                <a:ea typeface="Arial"/>
                <a:cs typeface="Arial"/>
              </a:defRPr>
            </a:lvl1pPr>
            <a:lvl2pPr>
              <a:defRPr sz="2100" b="1">
                <a:solidFill>
                  <a:srgbClr val="55C7CB"/>
                </a:solidFill>
                <a:latin typeface="Arial"/>
                <a:ea typeface="Arial"/>
                <a:cs typeface="Arial"/>
              </a:defRPr>
            </a:lvl2pPr>
            <a:lvl3pPr>
              <a:defRPr sz="2100" b="1">
                <a:solidFill>
                  <a:srgbClr val="55C7CB"/>
                </a:solidFill>
                <a:latin typeface="Arial"/>
                <a:ea typeface="Arial"/>
                <a:cs typeface="Arial"/>
              </a:defRPr>
            </a:lvl3pPr>
            <a:lvl4pPr>
              <a:defRPr sz="2100" b="1">
                <a:solidFill>
                  <a:srgbClr val="55C7CB"/>
                </a:solidFill>
                <a:latin typeface="Arial"/>
                <a:ea typeface="Arial"/>
                <a:cs typeface="Arial"/>
              </a:defRPr>
            </a:lvl4pPr>
            <a:lvl5pPr>
              <a:defRPr sz="2100" b="1">
                <a:solidFill>
                  <a:srgbClr val="55C7CB"/>
                </a:solidFill>
                <a:latin typeface="Arial"/>
                <a:ea typeface="Arial"/>
                <a:cs typeface="Arial"/>
              </a:defRPr>
            </a:lvl5pPr>
            <a:lvl6pPr>
              <a:defRPr sz="2100" b="1">
                <a:solidFill>
                  <a:srgbClr val="55C7CB"/>
                </a:solidFill>
                <a:latin typeface="Arial"/>
                <a:ea typeface="Arial"/>
                <a:cs typeface="Arial"/>
              </a:defRPr>
            </a:lvl6pPr>
            <a:lvl7pPr>
              <a:defRPr sz="2100" b="1">
                <a:solidFill>
                  <a:srgbClr val="55C7CB"/>
                </a:solidFill>
                <a:latin typeface="Arial"/>
                <a:ea typeface="Arial"/>
                <a:cs typeface="Arial"/>
              </a:defRPr>
            </a:lvl7pPr>
            <a:lvl8pPr>
              <a:defRPr sz="2100" b="1">
                <a:solidFill>
                  <a:srgbClr val="55C7CB"/>
                </a:solidFill>
                <a:latin typeface="Arial"/>
                <a:ea typeface="Arial"/>
                <a:cs typeface="Arial"/>
              </a:defRPr>
            </a:lvl8pPr>
            <a:lvl9pPr>
              <a:defRPr sz="2100" b="1">
                <a:solidFill>
                  <a:srgbClr val="55C7CB"/>
                </a:solidFill>
                <a:latin typeface="Arial"/>
                <a:ea typeface="Arial"/>
                <a:cs typeface="Arial"/>
              </a:defRPr>
            </a:lvl9pPr>
          </a:lstStyle>
          <a:p xmlns:a="http://schemas.openxmlformats.org/drawingml/2006/main">
            <a:pPr>
              <a:defRPr sz="2100" b="1">
                <a:solidFill>
                  <a:srgbClr val="55C7CB"/>
                </a:solidFill>
                <a:latin typeface="Arial"/>
                <a:ea typeface="Arial"/>
                <a:cs typeface="Arial"/>
              </a:defRPr>
            </a:pPr>
            <a:r>
              <a:rPr sz="2100" b="1">
                <a:solidFill>
                  <a:srgbClr val="55C7CB"/>
                </a:solidFill>
                <a:latin typeface="Arial"/>
                <a:ea typeface="Arial"/>
                <a:cs typeface="Arial"/>
              </a:rPr>
              <a:t>APEX</a:t>
            </a:r>
          </a:p>
        </p:txBody>
      </p:sp>
      <p:sp>
        <p:nvSpPr>
          <p:cNvPr id="2" name="">
            <a:extLst xmlns:a="http://schemas.openxmlformats.org/drawingml/2006/main">
              <a:ext uri="{FF2B5EF4-FFF2-40B4-BE49-F238E27FC236}">
                <a16:creationId xmlns:a16="http://schemas.microsoft.com/office/drawing/2014/main" id="{8DD8895D-1C41-483A-92C2-A445C6E8448A}"/>
              </a:ext>
            </a:extLst>
          </p:cNvPr>
          <p:cNvSpPr>
            <a:spLocks xmlns:a="http://schemas.openxmlformats.org/drawingml/2006/main" noGrp="1"/>
          </p:cNvSpPr>
          <p:nvPr/>
        </p:nvSpPr>
        <p:spPr>
          <a:xfrm xmlns:a="http://schemas.openxmlformats.org/drawingml/2006/main">
            <a:off x="685800" y="1952625"/>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250" b="1">
                <a:solidFill>
                  <a:srgbClr val="FFFFFF"/>
                </a:solidFill>
                <a:latin typeface="Arial"/>
                <a:ea typeface="Arial"/>
                <a:cs typeface="Arial"/>
              </a:defRPr>
            </a:defPPr>
            <a:lvl1pPr>
              <a:defRPr sz="5250" b="1">
                <a:solidFill>
                  <a:srgbClr val="FFFFFF"/>
                </a:solidFill>
                <a:latin typeface="Arial"/>
                <a:ea typeface="Arial"/>
                <a:cs typeface="Arial"/>
              </a:defRPr>
            </a:lvl1pPr>
            <a:lvl2pPr>
              <a:defRPr sz="5250" b="1">
                <a:solidFill>
                  <a:srgbClr val="FFFFFF"/>
                </a:solidFill>
                <a:latin typeface="Arial"/>
                <a:ea typeface="Arial"/>
                <a:cs typeface="Arial"/>
              </a:defRPr>
            </a:lvl2pPr>
            <a:lvl3pPr>
              <a:defRPr sz="5250" b="1">
                <a:solidFill>
                  <a:srgbClr val="FFFFFF"/>
                </a:solidFill>
                <a:latin typeface="Arial"/>
                <a:ea typeface="Arial"/>
                <a:cs typeface="Arial"/>
              </a:defRPr>
            </a:lvl3pPr>
            <a:lvl4pPr>
              <a:defRPr sz="5250" b="1">
                <a:solidFill>
                  <a:srgbClr val="FFFFFF"/>
                </a:solidFill>
                <a:latin typeface="Arial"/>
                <a:ea typeface="Arial"/>
                <a:cs typeface="Arial"/>
              </a:defRPr>
            </a:lvl4pPr>
            <a:lvl5pPr>
              <a:defRPr sz="5250" b="1">
                <a:solidFill>
                  <a:srgbClr val="FFFFFF"/>
                </a:solidFill>
                <a:latin typeface="Arial"/>
                <a:ea typeface="Arial"/>
                <a:cs typeface="Arial"/>
              </a:defRPr>
            </a:lvl5pPr>
            <a:lvl6pPr>
              <a:defRPr sz="5250" b="1">
                <a:solidFill>
                  <a:srgbClr val="FFFFFF"/>
                </a:solidFill>
                <a:latin typeface="Arial"/>
                <a:ea typeface="Arial"/>
                <a:cs typeface="Arial"/>
              </a:defRPr>
            </a:lvl6pPr>
            <a:lvl7pPr>
              <a:defRPr sz="5250" b="1">
                <a:solidFill>
                  <a:srgbClr val="FFFFFF"/>
                </a:solidFill>
                <a:latin typeface="Arial"/>
                <a:ea typeface="Arial"/>
                <a:cs typeface="Arial"/>
              </a:defRPr>
            </a:lvl7pPr>
            <a:lvl8pPr>
              <a:defRPr sz="5250" b="1">
                <a:solidFill>
                  <a:srgbClr val="FFFFFF"/>
                </a:solidFill>
                <a:latin typeface="Arial"/>
                <a:ea typeface="Arial"/>
                <a:cs typeface="Arial"/>
              </a:defRPr>
            </a:lvl8pPr>
            <a:lvl9pPr>
              <a:defRPr sz="5250" b="1">
                <a:solidFill>
                  <a:srgbClr val="FFFFFF"/>
                </a:solidFill>
                <a:latin typeface="Arial"/>
                <a:ea typeface="Arial"/>
                <a:cs typeface="Arial"/>
              </a:defRPr>
            </a:lvl9pPr>
          </a:lstStyle>
          <a:p xmlns:a="http://schemas.openxmlformats.org/drawingml/2006/main">
            <a:pPr>
              <a:defRPr sz="5250" b="1">
                <a:solidFill>
                  <a:srgbClr val="FFFFFF"/>
                </a:solidFill>
                <a:latin typeface="Arial"/>
                <a:ea typeface="Arial"/>
                <a:cs typeface="Arial"/>
              </a:defRPr>
            </a:pPr>
            <a:r>
              <a:rPr sz="5250" b="1">
                <a:solidFill>
                  <a:srgbClr val="FFFFFF"/>
                </a:solidFill>
                <a:latin typeface="Arial"/>
                <a:ea typeface="Arial"/>
                <a:cs typeface="Arial"/>
              </a:rPr>
              <a:t>Pod 2 / Engine</a:t>
            </a:r>
          </a:p>
        </p:txBody>
      </p:sp>
      <p:sp>
        <p:nvSpPr>
          <p:cNvPr id="3" name="">
            <a:extLst xmlns:a="http://schemas.openxmlformats.org/drawingml/2006/main">
              <a:ext uri="{FF2B5EF4-FFF2-40B4-BE49-F238E27FC236}">
                <a16:creationId xmlns:a16="http://schemas.microsoft.com/office/drawing/2014/main" id="{D01C4DF6-8C41-413A-93B9-590DD84122A6}"/>
              </a:ext>
            </a:extLst>
          </p:cNvPr>
          <p:cNvSpPr>
            <a:spLocks xmlns:a="http://schemas.openxmlformats.org/drawingml/2006/main" noGrp="1"/>
          </p:cNvSpPr>
          <p:nvPr/>
        </p:nvSpPr>
        <p:spPr>
          <a:xfrm xmlns:a="http://schemas.openxmlformats.org/drawingml/2006/main">
            <a:off x="685800" y="314325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0">
                <a:solidFill>
                  <a:srgbClr val="FFFFFF"/>
                </a:solidFill>
                <a:latin typeface="Arial"/>
                <a:ea typeface="Arial"/>
                <a:cs typeface="Arial"/>
              </a:defRPr>
            </a:defPPr>
            <a:lvl1pPr>
              <a:defRPr sz="3000" b="0">
                <a:solidFill>
                  <a:srgbClr val="FFFFFF"/>
                </a:solidFill>
                <a:latin typeface="Arial"/>
                <a:ea typeface="Arial"/>
                <a:cs typeface="Arial"/>
              </a:defRPr>
            </a:lvl1pPr>
            <a:lvl2pPr>
              <a:defRPr sz="3000" b="0">
                <a:solidFill>
                  <a:srgbClr val="FFFFFF"/>
                </a:solidFill>
                <a:latin typeface="Arial"/>
                <a:ea typeface="Arial"/>
                <a:cs typeface="Arial"/>
              </a:defRPr>
            </a:lvl2pPr>
            <a:lvl3pPr>
              <a:defRPr sz="3000" b="0">
                <a:solidFill>
                  <a:srgbClr val="FFFFFF"/>
                </a:solidFill>
                <a:latin typeface="Arial"/>
                <a:ea typeface="Arial"/>
                <a:cs typeface="Arial"/>
              </a:defRPr>
            </a:lvl3pPr>
            <a:lvl4pPr>
              <a:defRPr sz="3000" b="0">
                <a:solidFill>
                  <a:srgbClr val="FFFFFF"/>
                </a:solidFill>
                <a:latin typeface="Arial"/>
                <a:ea typeface="Arial"/>
                <a:cs typeface="Arial"/>
              </a:defRPr>
            </a:lvl4pPr>
            <a:lvl5pPr>
              <a:defRPr sz="3000" b="0">
                <a:solidFill>
                  <a:srgbClr val="FFFFFF"/>
                </a:solidFill>
                <a:latin typeface="Arial"/>
                <a:ea typeface="Arial"/>
                <a:cs typeface="Arial"/>
              </a:defRPr>
            </a:lvl5pPr>
            <a:lvl6pPr>
              <a:defRPr sz="3000" b="0">
                <a:solidFill>
                  <a:srgbClr val="FFFFFF"/>
                </a:solidFill>
                <a:latin typeface="Arial"/>
                <a:ea typeface="Arial"/>
                <a:cs typeface="Arial"/>
              </a:defRPr>
            </a:lvl6pPr>
            <a:lvl7pPr>
              <a:defRPr sz="3000" b="0">
                <a:solidFill>
                  <a:srgbClr val="FFFFFF"/>
                </a:solidFill>
                <a:latin typeface="Arial"/>
                <a:ea typeface="Arial"/>
                <a:cs typeface="Arial"/>
              </a:defRPr>
            </a:lvl7pPr>
            <a:lvl8pPr>
              <a:defRPr sz="3000" b="0">
                <a:solidFill>
                  <a:srgbClr val="FFFFFF"/>
                </a:solidFill>
                <a:latin typeface="Arial"/>
                <a:ea typeface="Arial"/>
                <a:cs typeface="Arial"/>
              </a:defRPr>
            </a:lvl8pPr>
            <a:lvl9pPr>
              <a:defRPr sz="3000" b="0">
                <a:solidFill>
                  <a:srgbClr val="FFFFFF"/>
                </a:solidFill>
                <a:latin typeface="Arial"/>
                <a:ea typeface="Arial"/>
                <a:cs typeface="Arial"/>
              </a:defRPr>
            </a:lvl9pPr>
          </a:lstStyle>
          <a:p xmlns:a="http://schemas.openxmlformats.org/drawingml/2006/main">
            <a:pPr>
              <a:defRPr sz="3000" b="0">
                <a:solidFill>
                  <a:srgbClr val="FFFFFF"/>
                </a:solidFill>
                <a:latin typeface="Arial"/>
                <a:ea typeface="Arial"/>
                <a:cs typeface="Arial"/>
              </a:defRPr>
            </a:pPr>
            <a:r>
              <a:rPr sz="3000" b="0">
                <a:solidFill>
                  <a:srgbClr val="FFFFFF"/>
                </a:solidFill>
                <a:latin typeface="Arial"/>
                <a:ea typeface="Arial"/>
                <a:cs typeface="Arial"/>
              </a:rPr>
              <a:t>Minhas contribuições e interfaces operacionais</a:t>
            </a:r>
          </a:p>
        </p:txBody>
      </p:sp>
      <p:sp>
        <p:nvSpPr>
          <p:cNvPr id="4" name="">
            <a:extLst xmlns:a="http://schemas.openxmlformats.org/drawingml/2006/main">
              <a:ext uri="{FF2B5EF4-FFF2-40B4-BE49-F238E27FC236}">
                <a16:creationId xmlns:a16="http://schemas.microsoft.com/office/drawing/2014/main" id="{E07CE508-884A-43B6-9265-607F98903CC2}"/>
              </a:ext>
            </a:extLst>
          </p:cNvPr>
          <p:cNvSpPr>
            <a:spLocks xmlns:a="http://schemas.openxmlformats.org/drawingml/2006/main" noGrp="1"/>
          </p:cNvSpPr>
          <p:nvPr/>
        </p:nvSpPr>
        <p:spPr>
          <a:xfrm xmlns:a="http://schemas.openxmlformats.org/drawingml/2006/main">
            <a:off x="685800" y="4667250"/>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C7D9DD"/>
                </a:solidFill>
                <a:latin typeface="Arial"/>
                <a:ea typeface="Arial"/>
                <a:cs typeface="Arial"/>
              </a:defRPr>
            </a:defPPr>
            <a:lvl1pPr>
              <a:defRPr sz="1875" b="0">
                <a:solidFill>
                  <a:srgbClr val="C7D9DD"/>
                </a:solidFill>
                <a:latin typeface="Arial"/>
                <a:ea typeface="Arial"/>
                <a:cs typeface="Arial"/>
              </a:defRPr>
            </a:lvl1pPr>
            <a:lvl2pPr>
              <a:defRPr sz="1875" b="0">
                <a:solidFill>
                  <a:srgbClr val="C7D9DD"/>
                </a:solidFill>
                <a:latin typeface="Arial"/>
                <a:ea typeface="Arial"/>
                <a:cs typeface="Arial"/>
              </a:defRPr>
            </a:lvl2pPr>
            <a:lvl3pPr>
              <a:defRPr sz="1875" b="0">
                <a:solidFill>
                  <a:srgbClr val="C7D9DD"/>
                </a:solidFill>
                <a:latin typeface="Arial"/>
                <a:ea typeface="Arial"/>
                <a:cs typeface="Arial"/>
              </a:defRPr>
            </a:lvl3pPr>
            <a:lvl4pPr>
              <a:defRPr sz="1875" b="0">
                <a:solidFill>
                  <a:srgbClr val="C7D9DD"/>
                </a:solidFill>
                <a:latin typeface="Arial"/>
                <a:ea typeface="Arial"/>
                <a:cs typeface="Arial"/>
              </a:defRPr>
            </a:lvl4pPr>
            <a:lvl5pPr>
              <a:defRPr sz="1875" b="0">
                <a:solidFill>
                  <a:srgbClr val="C7D9DD"/>
                </a:solidFill>
                <a:latin typeface="Arial"/>
                <a:ea typeface="Arial"/>
                <a:cs typeface="Arial"/>
              </a:defRPr>
            </a:lvl5pPr>
            <a:lvl6pPr>
              <a:defRPr sz="1875" b="0">
                <a:solidFill>
                  <a:srgbClr val="C7D9DD"/>
                </a:solidFill>
                <a:latin typeface="Arial"/>
                <a:ea typeface="Arial"/>
                <a:cs typeface="Arial"/>
              </a:defRPr>
            </a:lvl6pPr>
            <a:lvl7pPr>
              <a:defRPr sz="1875" b="0">
                <a:solidFill>
                  <a:srgbClr val="C7D9DD"/>
                </a:solidFill>
                <a:latin typeface="Arial"/>
                <a:ea typeface="Arial"/>
                <a:cs typeface="Arial"/>
              </a:defRPr>
            </a:lvl7pPr>
            <a:lvl8pPr>
              <a:defRPr sz="1875" b="0">
                <a:solidFill>
                  <a:srgbClr val="C7D9DD"/>
                </a:solidFill>
                <a:latin typeface="Arial"/>
                <a:ea typeface="Arial"/>
                <a:cs typeface="Arial"/>
              </a:defRPr>
            </a:lvl8pPr>
            <a:lvl9pPr>
              <a:defRPr sz="1875" b="0">
                <a:solidFill>
                  <a:srgbClr val="C7D9DD"/>
                </a:solidFill>
                <a:latin typeface="Arial"/>
                <a:ea typeface="Arial"/>
                <a:cs typeface="Arial"/>
              </a:defRPr>
            </a:lvl9pPr>
          </a:lstStyle>
          <a:p xmlns:a="http://schemas.openxmlformats.org/drawingml/2006/main">
            <a:pPr>
              <a:defRPr sz="1875" b="0">
                <a:solidFill>
                  <a:srgbClr val="C7D9DD"/>
                </a:solidFill>
                <a:latin typeface="Arial"/>
                <a:ea typeface="Arial"/>
                <a:cs typeface="Arial"/>
              </a:defRPr>
            </a:pPr>
            <a:r>
              <a:rPr sz="1875" b="0">
                <a:solidFill>
                  <a:srgbClr val="C7D9DD"/>
                </a:solidFill>
                <a:latin typeface="Arial"/>
                <a:ea typeface="Arial"/>
                <a:cs typeface="Arial"/>
              </a:rPr>
              <a:t>Augusto Cezar</a:t>
            </a:r>
          </a:p>
          <a:p xmlns:a="http://schemas.openxmlformats.org/drawingml/2006/main">
            <a:pPr>
              <a:defRPr sz="1875" b="0">
                <a:solidFill>
                  <a:srgbClr val="C7D9DD"/>
                </a:solidFill>
                <a:latin typeface="Arial"/>
                <a:ea typeface="Arial"/>
                <a:cs typeface="Arial"/>
              </a:defRPr>
            </a:pPr>
            <a:r>
              <a:rPr sz="1875" b="0">
                <a:solidFill>
                  <a:srgbClr val="C7D9DD"/>
                </a:solidFill>
                <a:latin typeface="Arial"/>
                <a:ea typeface="Arial"/>
                <a:cs typeface="Arial"/>
              </a:rPr>
              <a:t>Visão para discussão do time em 20/10/2026</a:t>
            </a:r>
          </a:p>
        </p:txBody>
      </p:sp>
      <p:sp>
        <p:nvSpPr>
          <p:cNvPr id="5" name="">
            <a:extLst xmlns:a="http://schemas.openxmlformats.org/drawingml/2006/main">
              <a:ext uri="{FF2B5EF4-FFF2-40B4-BE49-F238E27FC236}">
                <a16:creationId xmlns:a16="http://schemas.microsoft.com/office/drawing/2014/main" id="{C086C3F6-4FC0-4DC5-8B78-F943F484D6BE}"/>
              </a:ext>
            </a:extLst>
          </p:cNvPr>
          <p:cNvSpPr>
            <a:spLocks xmlns:a="http://schemas.openxmlformats.org/drawingml/2006/main" noGrp="1"/>
          </p:cNvSpPr>
          <p:nvPr/>
        </p:nvSpPr>
        <p:spPr>
          <a:xfrm xmlns:a="http://schemas.openxmlformats.org/drawingml/2006/main">
            <a:off x="685800" y="59817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8DDDE0"/>
                </a:solidFill>
                <a:latin typeface="Arial"/>
                <a:ea typeface="Arial"/>
                <a:cs typeface="Arial"/>
              </a:defRPr>
            </a:defPPr>
            <a:lvl1pPr>
              <a:defRPr sz="1650" b="0">
                <a:solidFill>
                  <a:srgbClr val="8DDDE0"/>
                </a:solidFill>
                <a:latin typeface="Arial"/>
                <a:ea typeface="Arial"/>
                <a:cs typeface="Arial"/>
              </a:defRPr>
            </a:lvl1pPr>
            <a:lvl2pPr>
              <a:defRPr sz="1650" b="0">
                <a:solidFill>
                  <a:srgbClr val="8DDDE0"/>
                </a:solidFill>
                <a:latin typeface="Arial"/>
                <a:ea typeface="Arial"/>
                <a:cs typeface="Arial"/>
              </a:defRPr>
            </a:lvl2pPr>
            <a:lvl3pPr>
              <a:defRPr sz="1650" b="0">
                <a:solidFill>
                  <a:srgbClr val="8DDDE0"/>
                </a:solidFill>
                <a:latin typeface="Arial"/>
                <a:ea typeface="Arial"/>
                <a:cs typeface="Arial"/>
              </a:defRPr>
            </a:lvl3pPr>
            <a:lvl4pPr>
              <a:defRPr sz="1650" b="0">
                <a:solidFill>
                  <a:srgbClr val="8DDDE0"/>
                </a:solidFill>
                <a:latin typeface="Arial"/>
                <a:ea typeface="Arial"/>
                <a:cs typeface="Arial"/>
              </a:defRPr>
            </a:lvl4pPr>
            <a:lvl5pPr>
              <a:defRPr sz="1650" b="0">
                <a:solidFill>
                  <a:srgbClr val="8DDDE0"/>
                </a:solidFill>
                <a:latin typeface="Arial"/>
                <a:ea typeface="Arial"/>
                <a:cs typeface="Arial"/>
              </a:defRPr>
            </a:lvl5pPr>
            <a:lvl6pPr>
              <a:defRPr sz="1650" b="0">
                <a:solidFill>
                  <a:srgbClr val="8DDDE0"/>
                </a:solidFill>
                <a:latin typeface="Arial"/>
                <a:ea typeface="Arial"/>
                <a:cs typeface="Arial"/>
              </a:defRPr>
            </a:lvl6pPr>
            <a:lvl7pPr>
              <a:defRPr sz="1650" b="0">
                <a:solidFill>
                  <a:srgbClr val="8DDDE0"/>
                </a:solidFill>
                <a:latin typeface="Arial"/>
                <a:ea typeface="Arial"/>
                <a:cs typeface="Arial"/>
              </a:defRPr>
            </a:lvl7pPr>
            <a:lvl8pPr>
              <a:defRPr sz="1650" b="0">
                <a:solidFill>
                  <a:srgbClr val="8DDDE0"/>
                </a:solidFill>
                <a:latin typeface="Arial"/>
                <a:ea typeface="Arial"/>
                <a:cs typeface="Arial"/>
              </a:defRPr>
            </a:lvl8pPr>
            <a:lvl9pPr>
              <a:defRPr sz="1650" b="0">
                <a:solidFill>
                  <a:srgbClr val="8DDDE0"/>
                </a:solidFill>
                <a:latin typeface="Arial"/>
                <a:ea typeface="Arial"/>
                <a:cs typeface="Arial"/>
              </a:defRPr>
            </a:lvl9pPr>
          </a:lstStyle>
          <a:p xmlns:a="http://schemas.openxmlformats.org/drawingml/2006/main">
            <a:pPr>
              <a:defRPr sz="1650" b="0">
                <a:solidFill>
                  <a:srgbClr val="8DDDE0"/>
                </a:solidFill>
                <a:latin typeface="Arial"/>
                <a:ea typeface="Arial"/>
                <a:cs typeface="Arial"/>
              </a:defRPr>
            </a:pPr>
            <a:r>
              <a:rPr sz="1650">
                <a:solidFill>
                  <a:srgbClr val="8DDDE0"/>
                </a:solidFill>
                <a:latin typeface="Arial"/>
                <a:ea typeface="Arial"/>
                <a:cs typeface="Arial"/>
                <a:hlinkClick xmlns:r="http://schemas.openxmlformats.org/officeDocument/2006/relationships" r:id="Rc04a066a42fd4817"/>
              </a:rPr>
              <a:t>Contribuições, evidências e próximos passos</a:t>
            </a:r>
          </a:p>
        </p:txBody>
      </p:sp>
    </p:spTree>
    <p:extLst>
      <p:ext uri="{BB962C8B-B14F-4D97-AF65-F5344CB8AC3E}">
        <p14:creationId xmlns:p14="http://schemas.microsoft.com/office/powerpoint/2010/main" val="807084426"/>
      </p:ext>
    </p:extLst>
  </p:cSld>
</p:sld>
</file>

<file path=ppt/slides/slide2.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A9817F3-8D1C-42C2-B0D0-DE3F43DE80C0}"/>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Engine e interfaces do projeto</a:t>
            </a:r>
          </a:p>
        </p:txBody>
      </p:sp>
      <p:sp>
        <p:nvSpPr>
          <p:cNvPr id="2" name="">
            <a:extLst xmlns:a="http://schemas.openxmlformats.org/drawingml/2006/main">
              <a:ext uri="{FF2B5EF4-FFF2-40B4-BE49-F238E27FC236}">
                <a16:creationId xmlns:a16="http://schemas.microsoft.com/office/drawing/2014/main" id="{30D5F3F1-9790-43CC-91B1-7226BB614B81}"/>
              </a:ext>
            </a:extLst>
          </p:cNvPr>
          <p:cNvSpPr>
            <a:spLocks xmlns:a="http://schemas.openxmlformats.org/drawingml/2006/main" noGrp="1"/>
          </p:cNvSpPr>
          <p:nvPr/>
        </p:nvSpPr>
        <p:spPr>
          <a:xfrm xmlns:a="http://schemas.openxmlformats.org/drawingml/2006/main">
            <a:off x="685800" y="16192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Núcleo do Pod 2</a:t>
            </a:r>
          </a:p>
        </p:txBody>
      </p:sp>
      <p:sp>
        <p:nvSpPr>
          <p:cNvPr id="3" name="">
            <a:extLst xmlns:a="http://schemas.openxmlformats.org/drawingml/2006/main">
              <a:ext uri="{FF2B5EF4-FFF2-40B4-BE49-F238E27FC236}">
                <a16:creationId xmlns:a16="http://schemas.microsoft.com/office/drawing/2014/main" id="{C4FE55DC-1F93-44A3-A253-D4AA3384CA71}"/>
              </a:ext>
            </a:extLst>
          </p:cNvPr>
          <p:cNvSpPr>
            <a:spLocks xmlns:a="http://schemas.openxmlformats.org/drawingml/2006/main" noGrp="1"/>
          </p:cNvSpPr>
          <p:nvPr/>
        </p:nvSpPr>
        <p:spPr>
          <a:xfrm xmlns:a="http://schemas.openxmlformats.org/drawingml/2006/main">
            <a:off x="3905250" y="16192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Diagnóstico determinístico, telemetria, atribuição e consistência dos contratos.</a:t>
            </a:r>
          </a:p>
        </p:txBody>
      </p:sp>
      <p:sp>
        <p:nvSpPr>
          <p:cNvPr id="4" name="">
            <a:extLst xmlns:a="http://schemas.openxmlformats.org/drawingml/2006/main">
              <a:ext uri="{FF2B5EF4-FFF2-40B4-BE49-F238E27FC236}">
                <a16:creationId xmlns:a16="http://schemas.microsoft.com/office/drawing/2014/main" id="{7429C3D5-364E-42F3-8993-375FEE804125}"/>
              </a:ext>
            </a:extLst>
          </p:cNvPr>
          <p:cNvSpPr>
            <a:spLocks xmlns:a="http://schemas.openxmlformats.org/drawingml/2006/main" noGrp="1"/>
          </p:cNvSpPr>
          <p:nvPr/>
        </p:nvSpPr>
        <p:spPr>
          <a:xfrm xmlns:a="http://schemas.openxmlformats.org/drawingml/2006/main">
            <a:off x="685800" y="26289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Minhas contribuições</a:t>
            </a:r>
          </a:p>
        </p:txBody>
      </p:sp>
      <p:sp>
        <p:nvSpPr>
          <p:cNvPr id="5" name="">
            <a:extLst xmlns:a="http://schemas.openxmlformats.org/drawingml/2006/main">
              <a:ext uri="{FF2B5EF4-FFF2-40B4-BE49-F238E27FC236}">
                <a16:creationId xmlns:a16="http://schemas.microsoft.com/office/drawing/2014/main" id="{CC420496-EDA9-4AE6-8A36-D0FCE5B5F856}"/>
              </a:ext>
            </a:extLst>
          </p:cNvPr>
          <p:cNvSpPr>
            <a:spLocks xmlns:a="http://schemas.openxmlformats.org/drawingml/2006/main" noGrp="1"/>
          </p:cNvSpPr>
          <p:nvPr/>
        </p:nvSpPr>
        <p:spPr>
          <a:xfrm xmlns:a="http://schemas.openxmlformats.org/drawingml/2006/main">
            <a:off x="3905250" y="26289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Implementações e controles integrados, com histórico de PRs e limites de cada prova.</a:t>
            </a:r>
          </a:p>
        </p:txBody>
      </p:sp>
      <p:sp>
        <p:nvSpPr>
          <p:cNvPr id="6" name="">
            <a:extLst xmlns:a="http://schemas.openxmlformats.org/drawingml/2006/main">
              <a:ext uri="{FF2B5EF4-FFF2-40B4-BE49-F238E27FC236}">
                <a16:creationId xmlns:a16="http://schemas.microsoft.com/office/drawing/2014/main" id="{4560A676-1D33-4040-91FB-83637C31B656}"/>
              </a:ext>
            </a:extLst>
          </p:cNvPr>
          <p:cNvSpPr>
            <a:spLocks xmlns:a="http://schemas.openxmlformats.org/drawingml/2006/main" noGrp="1"/>
          </p:cNvSpPr>
          <p:nvPr/>
        </p:nvSpPr>
        <p:spPr>
          <a:xfrm xmlns:a="http://schemas.openxmlformats.org/drawingml/2006/main">
            <a:off x="685800" y="36385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Interfaces explícitas</a:t>
            </a:r>
          </a:p>
        </p:txBody>
      </p:sp>
      <p:sp>
        <p:nvSpPr>
          <p:cNvPr id="7" name="">
            <a:extLst xmlns:a="http://schemas.openxmlformats.org/drawingml/2006/main">
              <a:ext uri="{FF2B5EF4-FFF2-40B4-BE49-F238E27FC236}">
                <a16:creationId xmlns:a16="http://schemas.microsoft.com/office/drawing/2014/main" id="{5252B695-68FF-466B-8938-50201BE52713}"/>
              </a:ext>
            </a:extLst>
          </p:cNvPr>
          <p:cNvSpPr>
            <a:spLocks xmlns:a="http://schemas.openxmlformats.org/drawingml/2006/main" noGrp="1"/>
          </p:cNvSpPr>
          <p:nvPr/>
        </p:nvSpPr>
        <p:spPr>
          <a:xfrm xmlns:a="http://schemas.openxmlformats.org/drawingml/2006/main">
            <a:off x="3905250" y="36385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Package, Harness, Verify e Infra aparecem quando afetam o Engine.</a:t>
            </a:r>
          </a:p>
        </p:txBody>
      </p:sp>
      <p:sp>
        <p:nvSpPr>
          <p:cNvPr id="8" name="">
            <a:extLst xmlns:a="http://schemas.openxmlformats.org/drawingml/2006/main">
              <a:ext uri="{FF2B5EF4-FFF2-40B4-BE49-F238E27FC236}">
                <a16:creationId xmlns:a16="http://schemas.microsoft.com/office/drawing/2014/main" id="{1D9E7B6C-6479-48DE-B174-957E7FE4D8D6}"/>
              </a:ext>
            </a:extLst>
          </p:cNvPr>
          <p:cNvSpPr>
            <a:spLocks xmlns:a="http://schemas.openxmlformats.org/drawingml/2006/main" noGrp="1"/>
          </p:cNvSpPr>
          <p:nvPr/>
        </p:nvSpPr>
        <p:spPr>
          <a:xfrm xmlns:a="http://schemas.openxmlformats.org/drawingml/2006/main">
            <a:off x="685800" y="46482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Trabalho compartilhado</a:t>
            </a:r>
          </a:p>
        </p:txBody>
      </p:sp>
      <p:sp>
        <p:nvSpPr>
          <p:cNvPr id="9" name="">
            <a:extLst xmlns:a="http://schemas.openxmlformats.org/drawingml/2006/main">
              <a:ext uri="{FF2B5EF4-FFF2-40B4-BE49-F238E27FC236}">
                <a16:creationId xmlns:a16="http://schemas.microsoft.com/office/drawing/2014/main" id="{54051CDE-5739-43EA-822B-0430B97C00A2}"/>
              </a:ext>
            </a:extLst>
          </p:cNvPr>
          <p:cNvSpPr>
            <a:spLocks xmlns:a="http://schemas.openxmlformats.org/drawingml/2006/main" noGrp="1"/>
          </p:cNvSpPr>
          <p:nvPr/>
        </p:nvSpPr>
        <p:spPr>
          <a:xfrm xmlns:a="http://schemas.openxmlformats.org/drawingml/2006/main">
            <a:off x="3905250" y="46482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A #185 é do Agmar, na interface com o Pod 3. A evolução #121 é de Luan.</a:t>
            </a:r>
          </a:p>
        </p:txBody>
      </p:sp>
      <p:sp>
        <p:nvSpPr>
          <p:cNvPr id="10" name="">
            <a:extLst xmlns:a="http://schemas.openxmlformats.org/drawingml/2006/main">
              <a:ext uri="{FF2B5EF4-FFF2-40B4-BE49-F238E27FC236}">
                <a16:creationId xmlns:a16="http://schemas.microsoft.com/office/drawing/2014/main" id="{AABB502C-EE4C-4D24-939A-09E1F6531E4F}"/>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Organização adotada: Pod 1, Pod 2 e Pod 3. As interfaces não criam outro pod.</a:t>
            </a:r>
          </a:p>
        </p:txBody>
      </p:sp>
      <p:sp>
        <p:nvSpPr>
          <p:cNvPr id="11" name="">
            <a:extLst xmlns:a="http://schemas.openxmlformats.org/drawingml/2006/main">
              <a:ext uri="{FF2B5EF4-FFF2-40B4-BE49-F238E27FC236}">
                <a16:creationId xmlns:a16="http://schemas.microsoft.com/office/drawing/2014/main" id="{05991516-5D1C-4869-A498-4AFC75B30D8F}"/>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7022b27602b84632"/>
              </a:rPr>
              <a:t>APEX #190</a:t>
            </a:r>
          </a:p>
        </p:txBody>
      </p:sp>
      <p:sp>
        <p:nvSpPr>
          <p:cNvPr id="12" name="">
            <a:extLst xmlns:a="http://schemas.openxmlformats.org/drawingml/2006/main">
              <a:ext uri="{FF2B5EF4-FFF2-40B4-BE49-F238E27FC236}">
                <a16:creationId xmlns:a16="http://schemas.microsoft.com/office/drawing/2014/main" id="{5055411A-289D-4FB4-A226-4EFB28B959C2}"/>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02 / 10</a:t>
            </a:r>
          </a:p>
        </p:txBody>
      </p:sp>
    </p:spTree>
    <p:extLst>
      <p:ext uri="{BB962C8B-B14F-4D97-AF65-F5344CB8AC3E}">
        <p14:creationId xmlns:p14="http://schemas.microsoft.com/office/powerpoint/2010/main" val="651587405"/>
      </p:ext>
    </p:extLst>
  </p:cSld>
</p:sld>
</file>

<file path=ppt/slides/slide3.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92DEEAF-6920-4238-BA6D-96A424A4C224}"/>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Minhas contribuições no núcleo do Engine</a:t>
            </a:r>
          </a:p>
        </p:txBody>
      </p:sp>
      <p:graphicFrame>
        <p:nvGraphicFramePr>
          <p:cNvPr id="2" name="">
            <a:extLst xmlns:a="http://schemas.openxmlformats.org/drawingml/2006/main">
              <a:ext uri="{FF2B5EF4-FFF2-40B4-BE49-F238E27FC236}">
                <a16:creationId xmlns:a16="http://schemas.microsoft.com/office/drawing/2014/main" id="{04A8719D-9B83-4AF4-8FA3-07D1DD6FC43F}"/>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firstRow="1" bandRow="0"/>
              <a:tblGrid>
                <a:gridCol w="2381250"/>
                <a:gridCol w="2857500"/>
                <a:gridCol w="5581650"/>
              </a:tblGrid>
              <a:tr h="552450">
                <a:tc>
                  <a:txBody>
                    <a:bodyPr wrap="square" lIns="123825" tIns="85725" rIns="123825" bIns="76200"/>
                    <a:lstStyle/>
                    <a:p>
                      <a:r>
                        <a:rPr sz="1875" b="1">
                          <a:solidFill>
                            <a:srgbClr val="FFFFFF"/>
                          </a:solidFill>
                          <a:latin typeface="Arial"/>
                          <a:ea typeface="Arial"/>
                          <a:cs typeface="Arial"/>
                        </a:rPr>
                        <a:t>Frente</a:t>
                      </a:r>
                    </a:p>
                  </a:txBody>
                  <a:tcPr marL="91440" marR="91440" marT="45720" marB="45720" anchor="ctr">
                    <a:lnL w="7144">
                      <a:solidFill>
                        <a:srgbClr val="D6DFDF"/>
                      </a:solidFill>
                      <a:prstDash val="solid"/>
                    </a:lnL>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PRs integradas</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Benefício documentado</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r>
              <a:tr h="766763">
                <a:tc>
                  <a:txBody>
                    <a:bodyPr wrap="square" lIns="123825" tIns="85725" rIns="123825" bIns="76200"/>
                    <a:lstStyle/>
                    <a:p>
                      <a:r>
                        <a:rPr sz="1875" b="0">
                          <a:solidFill>
                            <a:srgbClr val="152C39"/>
                          </a:solidFill>
                          <a:latin typeface="Arial"/>
                          <a:ea typeface="Arial"/>
                          <a:cs typeface="Arial"/>
                        </a:rPr>
                        <a:t>Diagnóstico e runtime</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#46 / #70</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Base determinística e leitura da coluna tipada com Map como fallback.</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766763">
                <a:tc>
                  <a:txBody>
                    <a:bodyPr wrap="square" lIns="123825" tIns="85725" rIns="123825" bIns="76200"/>
                    <a:lstStyle/>
                    <a:p>
                      <a:r>
                        <a:rPr sz="1875" b="0">
                          <a:solidFill>
                            <a:srgbClr val="152C39"/>
                          </a:solidFill>
                          <a:latin typeface="Arial"/>
                          <a:ea typeface="Arial"/>
                          <a:cs typeface="Arial"/>
                        </a:rPr>
                        <a:t>Retry e skew</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#89 / #99</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Telemetria retry-safe, retry_pressure e skew_ratio por tentativas.</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r h="766763">
                <a:tc>
                  <a:txBody>
                    <a:bodyPr wrap="square" lIns="123825" tIns="85725" rIns="123825" bIns="76200"/>
                    <a:lstStyle/>
                    <a:p>
                      <a:r>
                        <a:rPr sz="1875" b="0">
                          <a:solidFill>
                            <a:srgbClr val="152C39"/>
                          </a:solidFill>
                          <a:latin typeface="Arial"/>
                          <a:ea typeface="Arial"/>
                          <a:cs typeface="Arial"/>
                        </a:rPr>
                        <a:t>Atribuição e cauda</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#126 / #127</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Resolvedor offline e gate determinístico de tail-outlier.</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766763">
                <a:tc>
                  <a:txBody>
                    <a:bodyPr wrap="square" lIns="123825" tIns="85725" rIns="123825" bIns="76200"/>
                    <a:lstStyle/>
                    <a:p>
                      <a:r>
                        <a:rPr sz="1875" b="0">
                          <a:solidFill>
                            <a:srgbClr val="152C39"/>
                          </a:solidFill>
                          <a:latin typeface="Arial"/>
                          <a:ea typeface="Arial"/>
                          <a:cs typeface="Arial"/>
                        </a:rPr>
                        <a:t>Schema e SQL</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#94 / #131 / #139</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Guardas de colunas, preflight do database configurado e controles mais discriminantes.</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bl>
          </a:graphicData>
        </a:graphic>
      </p:graphicFrame>
      <p:sp>
        <p:nvSpPr>
          <p:cNvPr id="3" name="">
            <a:extLst xmlns:a="http://schemas.openxmlformats.org/drawingml/2006/main">
              <a:ext uri="{FF2B5EF4-FFF2-40B4-BE49-F238E27FC236}">
                <a16:creationId xmlns:a16="http://schemas.microsoft.com/office/drawing/2014/main" id="{6BE87E63-E03E-4547-9F13-83182C309E3C}"/>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Implementação integrada e encerramento dos critérios residuais são estados distintos.</a:t>
            </a:r>
          </a:p>
        </p:txBody>
      </p:sp>
      <p:sp>
        <p:nvSpPr>
          <p:cNvPr id="4" name="">
            <a:extLst xmlns:a="http://schemas.openxmlformats.org/drawingml/2006/main">
              <a:ext uri="{FF2B5EF4-FFF2-40B4-BE49-F238E27FC236}">
                <a16:creationId xmlns:a16="http://schemas.microsoft.com/office/drawing/2014/main" id="{8AA64BB2-7F77-493C-9E5F-302ECFA96260}"/>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e900fc578d5a40c9"/>
              </a:rPr>
              <a:t>APEX #190</a:t>
            </a:r>
          </a:p>
        </p:txBody>
      </p:sp>
      <p:sp>
        <p:nvSpPr>
          <p:cNvPr id="5" name="">
            <a:extLst xmlns:a="http://schemas.openxmlformats.org/drawingml/2006/main">
              <a:ext uri="{FF2B5EF4-FFF2-40B4-BE49-F238E27FC236}">
                <a16:creationId xmlns:a16="http://schemas.microsoft.com/office/drawing/2014/main" id="{49291B25-252B-4728-9852-9E96E4AAF490}"/>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03 / 10</a:t>
            </a:r>
          </a:p>
        </p:txBody>
      </p:sp>
    </p:spTree>
    <p:extLst>
      <p:ext uri="{BB962C8B-B14F-4D97-AF65-F5344CB8AC3E}">
        <p14:creationId xmlns:p14="http://schemas.microsoft.com/office/powerpoint/2010/main" val="80077604"/>
      </p:ext>
    </p:extLst>
  </p:cSld>
</p:sld>
</file>

<file path=ppt/slides/slide4.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295D2AD-A64C-4EAB-9C23-53050CDCA082}"/>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Exemplos: diagnóstico com contexto fiel</a:t>
            </a:r>
          </a:p>
        </p:txBody>
      </p:sp>
      <p:sp>
        <p:nvSpPr>
          <p:cNvPr id="2" name="">
            <a:extLst xmlns:a="http://schemas.openxmlformats.org/drawingml/2006/main">
              <a:ext uri="{FF2B5EF4-FFF2-40B4-BE49-F238E27FC236}">
                <a16:creationId xmlns:a16="http://schemas.microsoft.com/office/drawing/2014/main" id="{B05A4A6D-7856-424E-AEA1-59E6FA39A743}"/>
              </a:ext>
            </a:extLst>
          </p:cNvPr>
          <p:cNvSpPr>
            <a:spLocks xmlns:a="http://schemas.openxmlformats.org/drawingml/2006/main" noGrp="1"/>
          </p:cNvSpPr>
          <p:nvPr/>
        </p:nvSpPr>
        <p:spPr>
          <a:xfrm xmlns:a="http://schemas.openxmlformats.org/drawingml/2006/main">
            <a:off x="685800" y="16192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Retry pressure</a:t>
            </a:r>
          </a:p>
        </p:txBody>
      </p:sp>
      <p:sp>
        <p:nvSpPr>
          <p:cNvPr id="3" name="">
            <a:extLst xmlns:a="http://schemas.openxmlformats.org/drawingml/2006/main">
              <a:ext uri="{FF2B5EF4-FFF2-40B4-BE49-F238E27FC236}">
                <a16:creationId xmlns:a16="http://schemas.microsoft.com/office/drawing/2014/main" id="{23C25F3C-75E3-47B8-9491-E075DB846346}"/>
              </a:ext>
            </a:extLst>
          </p:cNvPr>
          <p:cNvSpPr>
            <a:spLocks xmlns:a="http://schemas.openxmlformats.org/drawingml/2006/main" noGrp="1"/>
          </p:cNvSpPr>
          <p:nvPr/>
        </p:nvSpPr>
        <p:spPr>
          <a:xfrm xmlns:a="http://schemas.openxmlformats.org/drawingml/2006/main">
            <a:off x="3905250" y="16192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#89 representa retries e reachability com watcher determinístico, sem inferir causa raiz.</a:t>
            </a:r>
          </a:p>
        </p:txBody>
      </p:sp>
      <p:sp>
        <p:nvSpPr>
          <p:cNvPr id="4" name="">
            <a:extLst xmlns:a="http://schemas.openxmlformats.org/drawingml/2006/main">
              <a:ext uri="{FF2B5EF4-FFF2-40B4-BE49-F238E27FC236}">
                <a16:creationId xmlns:a16="http://schemas.microsoft.com/office/drawing/2014/main" id="{35F086FB-18B6-4268-BDBB-8E2A2389C064}"/>
              </a:ext>
            </a:extLst>
          </p:cNvPr>
          <p:cNvSpPr>
            <a:spLocks xmlns:a="http://schemas.openxmlformats.org/drawingml/2006/main" noGrp="1"/>
          </p:cNvSpPr>
          <p:nvPr/>
        </p:nvSpPr>
        <p:spPr>
          <a:xfrm xmlns:a="http://schemas.openxmlformats.org/drawingml/2006/main">
            <a:off x="685800" y="26289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Atribuição offline</a:t>
            </a:r>
          </a:p>
        </p:txBody>
      </p:sp>
      <p:sp>
        <p:nvSpPr>
          <p:cNvPr id="5" name="">
            <a:extLst xmlns:a="http://schemas.openxmlformats.org/drawingml/2006/main">
              <a:ext uri="{FF2B5EF4-FFF2-40B4-BE49-F238E27FC236}">
                <a16:creationId xmlns:a16="http://schemas.microsoft.com/office/drawing/2014/main" id="{24CB104C-5552-489F-8EFB-A194BB53AC12}"/>
              </a:ext>
            </a:extLst>
          </p:cNvPr>
          <p:cNvSpPr>
            <a:spLocks xmlns:a="http://schemas.openxmlformats.org/drawingml/2006/main" noGrp="1"/>
          </p:cNvSpPr>
          <p:nvPr/>
        </p:nvSpPr>
        <p:spPr>
          <a:xfrm xmlns:a="http://schemas.openxmlformats.org/drawingml/2006/main">
            <a:off x="3905250" y="26289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#126 separa execução, app/job, stages, conflito e ausência.</a:t>
            </a:r>
          </a:p>
        </p:txBody>
      </p:sp>
      <p:sp>
        <p:nvSpPr>
          <p:cNvPr id="6" name="">
            <a:extLst xmlns:a="http://schemas.openxmlformats.org/drawingml/2006/main">
              <a:ext uri="{FF2B5EF4-FFF2-40B4-BE49-F238E27FC236}">
                <a16:creationId xmlns:a16="http://schemas.microsoft.com/office/drawing/2014/main" id="{04DCCA2A-F402-476C-B15B-521A45711E9F}"/>
              </a:ext>
            </a:extLst>
          </p:cNvPr>
          <p:cNvSpPr>
            <a:spLocks xmlns:a="http://schemas.openxmlformats.org/drawingml/2006/main" noGrp="1"/>
          </p:cNvSpPr>
          <p:nvPr/>
        </p:nvSpPr>
        <p:spPr>
          <a:xfrm xmlns:a="http://schemas.openxmlformats.org/drawingml/2006/main">
            <a:off x="685800" y="36385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Preflight</a:t>
            </a:r>
          </a:p>
        </p:txBody>
      </p:sp>
      <p:sp>
        <p:nvSpPr>
          <p:cNvPr id="7" name="">
            <a:extLst xmlns:a="http://schemas.openxmlformats.org/drawingml/2006/main">
              <a:ext uri="{FF2B5EF4-FFF2-40B4-BE49-F238E27FC236}">
                <a16:creationId xmlns:a16="http://schemas.microsoft.com/office/drawing/2014/main" id="{486C0034-8CD1-4C5A-9ADA-12145FF83915}"/>
              </a:ext>
            </a:extLst>
          </p:cNvPr>
          <p:cNvSpPr>
            <a:spLocks xmlns:a="http://schemas.openxmlformats.org/drawingml/2006/main" noGrp="1"/>
          </p:cNvSpPr>
          <p:nvPr/>
        </p:nvSpPr>
        <p:spPr>
          <a:xfrm xmlns:a="http://schemas.openxmlformats.org/drawingml/2006/main">
            <a:off x="3905250" y="36385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#131 consulta system.columns no database configurado antes de seguir.</a:t>
            </a:r>
          </a:p>
        </p:txBody>
      </p:sp>
      <p:sp>
        <p:nvSpPr>
          <p:cNvPr id="8" name="">
            <a:extLst xmlns:a="http://schemas.openxmlformats.org/drawingml/2006/main">
              <a:ext uri="{FF2B5EF4-FFF2-40B4-BE49-F238E27FC236}">
                <a16:creationId xmlns:a16="http://schemas.microsoft.com/office/drawing/2014/main" id="{660A20C3-5098-44B3-9E70-54C7F1702F9D}"/>
              </a:ext>
            </a:extLst>
          </p:cNvPr>
          <p:cNvSpPr>
            <a:spLocks xmlns:a="http://schemas.openxmlformats.org/drawingml/2006/main" noGrp="1"/>
          </p:cNvSpPr>
          <p:nvPr/>
        </p:nvSpPr>
        <p:spPr>
          <a:xfrm xmlns:a="http://schemas.openxmlformats.org/drawingml/2006/main">
            <a:off x="685800" y="46482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SQL versus DDL</a:t>
            </a:r>
          </a:p>
        </p:txBody>
      </p:sp>
      <p:sp>
        <p:nvSpPr>
          <p:cNvPr id="9" name="">
            <a:extLst xmlns:a="http://schemas.openxmlformats.org/drawingml/2006/main">
              <a:ext uri="{FF2B5EF4-FFF2-40B4-BE49-F238E27FC236}">
                <a16:creationId xmlns:a16="http://schemas.microsoft.com/office/drawing/2014/main" id="{15B2C9DE-93DE-44A5-B50E-37136F0A513D}"/>
              </a:ext>
            </a:extLst>
          </p:cNvPr>
          <p:cNvSpPr>
            <a:spLocks xmlns:a="http://schemas.openxmlformats.org/drawingml/2006/main" noGrp="1"/>
          </p:cNvSpPr>
          <p:nvPr/>
        </p:nvSpPr>
        <p:spPr>
          <a:xfrm xmlns:a="http://schemas.openxmlformats.org/drawingml/2006/main">
            <a:off x="3905250" y="46482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#139 acrescenta controles para colunas antes ocultadas pelas exclusões.</a:t>
            </a:r>
          </a:p>
        </p:txBody>
      </p:sp>
      <p:sp>
        <p:nvSpPr>
          <p:cNvPr id="10" name="">
            <a:extLst xmlns:a="http://schemas.openxmlformats.org/drawingml/2006/main">
              <a:ext uri="{FF2B5EF4-FFF2-40B4-BE49-F238E27FC236}">
                <a16:creationId xmlns:a16="http://schemas.microsoft.com/office/drawing/2014/main" id="{D280E1F0-4F4A-4AB5-8CC5-98292185BF54}"/>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Os exemplos explicam o que mudou. As provas históricas mantêm suas árvores e limitações.</a:t>
            </a:r>
          </a:p>
        </p:txBody>
      </p:sp>
      <p:sp>
        <p:nvSpPr>
          <p:cNvPr id="11" name="">
            <a:extLst xmlns:a="http://schemas.openxmlformats.org/drawingml/2006/main">
              <a:ext uri="{FF2B5EF4-FFF2-40B4-BE49-F238E27FC236}">
                <a16:creationId xmlns:a16="http://schemas.microsoft.com/office/drawing/2014/main" id="{F0DCC964-D405-4EFD-930C-0A6FE70B7A80}"/>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0178b2d6eed44b7d"/>
              </a:rPr>
              <a:t>APEX #190</a:t>
            </a:r>
          </a:p>
        </p:txBody>
      </p:sp>
      <p:sp>
        <p:nvSpPr>
          <p:cNvPr id="12" name="">
            <a:extLst xmlns:a="http://schemas.openxmlformats.org/drawingml/2006/main">
              <a:ext uri="{FF2B5EF4-FFF2-40B4-BE49-F238E27FC236}">
                <a16:creationId xmlns:a16="http://schemas.microsoft.com/office/drawing/2014/main" id="{6618EDE0-C631-47EA-8A22-BB34B7AE153C}"/>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04 / 10</a:t>
            </a:r>
          </a:p>
        </p:txBody>
      </p:sp>
    </p:spTree>
    <p:extLst>
      <p:ext uri="{BB962C8B-B14F-4D97-AF65-F5344CB8AC3E}">
        <p14:creationId xmlns:p14="http://schemas.microsoft.com/office/powerpoint/2010/main" val="1324949721"/>
      </p:ext>
    </p:extLst>
  </p:cSld>
</p:sld>
</file>

<file path=ppt/slides/slide5.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AD085E-49B7-45C0-BB93-F4CB5D8B9E65}"/>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Minhas contribuições nas interfaces</a:t>
            </a:r>
          </a:p>
        </p:txBody>
      </p:sp>
      <p:graphicFrame>
        <p:nvGraphicFramePr>
          <p:cNvPr id="2" name="">
            <a:extLst xmlns:a="http://schemas.openxmlformats.org/drawingml/2006/main">
              <a:ext uri="{FF2B5EF4-FFF2-40B4-BE49-F238E27FC236}">
                <a16:creationId xmlns:a16="http://schemas.microsoft.com/office/drawing/2014/main" id="{8DAAAAAE-8DA6-40E1-86D2-48C138E65ADE}"/>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firstRow="1" bandRow="0"/>
              <a:tblGrid>
                <a:gridCol w="2286000"/>
                <a:gridCol w="2857500"/>
                <a:gridCol w="5676900"/>
              </a:tblGrid>
              <a:tr h="552450">
                <a:tc>
                  <a:txBody>
                    <a:bodyPr wrap="square" lIns="123825" tIns="85725" rIns="123825" bIns="76200"/>
                    <a:lstStyle/>
                    <a:p>
                      <a:r>
                        <a:rPr sz="1875" b="1">
                          <a:solidFill>
                            <a:srgbClr val="FFFFFF"/>
                          </a:solidFill>
                          <a:latin typeface="Arial"/>
                          <a:ea typeface="Arial"/>
                          <a:cs typeface="Arial"/>
                        </a:rPr>
                        <a:t>Interface</a:t>
                      </a:r>
                    </a:p>
                  </a:txBody>
                  <a:tcPr marL="91440" marR="91440" marT="45720" marB="45720" anchor="ctr">
                    <a:lnL w="7144">
                      <a:solidFill>
                        <a:srgbClr val="D6DFDF"/>
                      </a:solidFill>
                      <a:prstDash val="solid"/>
                    </a:lnL>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PRs</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Contribuição</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r>
              <a:tr h="766763">
                <a:tc>
                  <a:txBody>
                    <a:bodyPr wrap="square" lIns="123825" tIns="85725" rIns="123825" bIns="76200"/>
                    <a:lstStyle/>
                    <a:p>
                      <a:r>
                        <a:rPr sz="1875" b="0">
                          <a:solidFill>
                            <a:srgbClr val="152C39"/>
                          </a:solidFill>
                          <a:latin typeface="Arial"/>
                          <a:ea typeface="Arial"/>
                          <a:cs typeface="Arial"/>
                        </a:rPr>
                        <a:t>Package / Harness</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#76 / #84 / #92 / #128</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Pacote operacional, identidade de endpoint e controles de PowerShell.</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766763">
                <a:tc>
                  <a:txBody>
                    <a:bodyPr wrap="square" lIns="123825" tIns="85725" rIns="123825" bIns="76200"/>
                    <a:lstStyle/>
                    <a:p>
                      <a:r>
                        <a:rPr sz="1875" b="0">
                          <a:solidFill>
                            <a:srgbClr val="152C39"/>
                          </a:solidFill>
                          <a:latin typeface="Arial"/>
                          <a:ea typeface="Arial"/>
                          <a:cs typeface="Arial"/>
                        </a:rPr>
                        <a:t>Compatibilidade</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#111</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Matriz executável de telemetria. A #121 de Luan a evolui para v0.6.</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r h="766763">
                <a:tc>
                  <a:txBody>
                    <a:bodyPr wrap="square" lIns="123825" tIns="85725" rIns="123825" bIns="76200"/>
                    <a:lstStyle/>
                    <a:p>
                      <a:r>
                        <a:rPr sz="1875" b="0">
                          <a:solidFill>
                            <a:srgbClr val="152C39"/>
                          </a:solidFill>
                          <a:latin typeface="Arial"/>
                          <a:ea typeface="Arial"/>
                          <a:cs typeface="Arial"/>
                        </a:rPr>
                        <a:t>Verify</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#142 / #145</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Amostras de tentativas bem-sucedidas e recusa de noise floors inválidos.</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766763">
                <a:tc>
                  <a:txBody>
                    <a:bodyPr wrap="square" lIns="123825" tIns="85725" rIns="123825" bIns="76200"/>
                    <a:lstStyle/>
                    <a:p>
                      <a:r>
                        <a:rPr sz="1875" b="0">
                          <a:solidFill>
                            <a:srgbClr val="152C39"/>
                          </a:solidFill>
                          <a:latin typeface="Arial"/>
                          <a:ea typeface="Arial"/>
                          <a:cs typeface="Arial"/>
                        </a:rPr>
                        <a:t>Infra</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#147</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Conferência de destinos de materialized views em múltiplas linhas.</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bl>
          </a:graphicData>
        </a:graphic>
      </p:graphicFrame>
      <p:sp>
        <p:nvSpPr>
          <p:cNvPr id="3" name="">
            <a:extLst xmlns:a="http://schemas.openxmlformats.org/drawingml/2006/main">
              <a:ext uri="{FF2B5EF4-FFF2-40B4-BE49-F238E27FC236}">
                <a16:creationId xmlns:a16="http://schemas.microsoft.com/office/drawing/2014/main" id="{A17A8385-C7AA-45FF-9C65-5AE10FD98A0A}"/>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Interface compartilhada exige autoria e critério próprios. Não representa ownership automático do Pod 2.</a:t>
            </a:r>
          </a:p>
        </p:txBody>
      </p:sp>
      <p:sp>
        <p:nvSpPr>
          <p:cNvPr id="4" name="">
            <a:extLst xmlns:a="http://schemas.openxmlformats.org/drawingml/2006/main">
              <a:ext uri="{FF2B5EF4-FFF2-40B4-BE49-F238E27FC236}">
                <a16:creationId xmlns:a16="http://schemas.microsoft.com/office/drawing/2014/main" id="{103891A8-2FA4-4AD0-AF4C-2F52E847AB32}"/>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d014ac7d0ec64294"/>
              </a:rPr>
              <a:t>APEX #190</a:t>
            </a:r>
          </a:p>
        </p:txBody>
      </p:sp>
      <p:sp>
        <p:nvSpPr>
          <p:cNvPr id="5" name="">
            <a:extLst xmlns:a="http://schemas.openxmlformats.org/drawingml/2006/main">
              <a:ext uri="{FF2B5EF4-FFF2-40B4-BE49-F238E27FC236}">
                <a16:creationId xmlns:a16="http://schemas.microsoft.com/office/drawing/2014/main" id="{E21ABC37-C120-478B-B006-F35F7F718BAD}"/>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05 / 10</a:t>
            </a:r>
          </a:p>
        </p:txBody>
      </p:sp>
    </p:spTree>
    <p:extLst>
      <p:ext uri="{BB962C8B-B14F-4D97-AF65-F5344CB8AC3E}">
        <p14:creationId xmlns:p14="http://schemas.microsoft.com/office/powerpoint/2010/main" val="620684765"/>
      </p:ext>
    </p:extLst>
  </p:cSld>
</p:sld>
</file>

<file path=ppt/slides/slide6.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BDB252C-6753-4242-BFBF-B7F4A19EF509}"/>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A guarda aberta na #155</a:t>
            </a:r>
          </a:p>
        </p:txBody>
      </p:sp>
      <p:sp>
        <p:nvSpPr>
          <p:cNvPr id="2" name="">
            <a:extLst xmlns:a="http://schemas.openxmlformats.org/drawingml/2006/main">
              <a:ext uri="{FF2B5EF4-FFF2-40B4-BE49-F238E27FC236}">
                <a16:creationId xmlns:a16="http://schemas.microsoft.com/office/drawing/2014/main" id="{B443F376-A36E-4533-A950-03F98BA7A24C}"/>
              </a:ext>
            </a:extLst>
          </p:cNvPr>
          <p:cNvSpPr>
            <a:spLocks xmlns:a="http://schemas.openxmlformats.org/drawingml/2006/main" noGrp="1"/>
          </p:cNvSpPr>
          <p:nvPr/>
        </p:nvSpPr>
        <p:spPr>
          <a:xfrm xmlns:a="http://schemas.openxmlformats.org/drawingml/2006/main">
            <a:off x="685800" y="16192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Base já integrada</a:t>
            </a:r>
          </a:p>
        </p:txBody>
      </p:sp>
      <p:sp>
        <p:nvSpPr>
          <p:cNvPr id="3" name="">
            <a:extLst xmlns:a="http://schemas.openxmlformats.org/drawingml/2006/main">
              <a:ext uri="{FF2B5EF4-FFF2-40B4-BE49-F238E27FC236}">
                <a16:creationId xmlns:a16="http://schemas.microsoft.com/office/drawing/2014/main" id="{D2286DF8-94EC-4D6B-8AD7-9F1BB1083584}"/>
              </a:ext>
            </a:extLst>
          </p:cNvPr>
          <p:cNvSpPr>
            <a:spLocks xmlns:a="http://schemas.openxmlformats.org/drawingml/2006/main" noGrp="1"/>
          </p:cNvSpPr>
          <p:nvPr/>
        </p:nvSpPr>
        <p:spPr>
          <a:xfrm xmlns:a="http://schemas.openxmlformats.org/drawingml/2006/main">
            <a:off x="3905250" y="16192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#131/#139 entregaram preflight e reforços SQL/DDL.</a:t>
            </a:r>
          </a:p>
        </p:txBody>
      </p:sp>
      <p:sp>
        <p:nvSpPr>
          <p:cNvPr id="4" name="">
            <a:extLst xmlns:a="http://schemas.openxmlformats.org/drawingml/2006/main">
              <a:ext uri="{FF2B5EF4-FFF2-40B4-BE49-F238E27FC236}">
                <a16:creationId xmlns:a16="http://schemas.microsoft.com/office/drawing/2014/main" id="{DB1FA6AF-7AE3-42F9-8566-E39CC20888E4}"/>
              </a:ext>
            </a:extLst>
          </p:cNvPr>
          <p:cNvSpPr>
            <a:spLocks xmlns:a="http://schemas.openxmlformats.org/drawingml/2006/main" noGrp="1"/>
          </p:cNvSpPr>
          <p:nvPr/>
        </p:nvSpPr>
        <p:spPr>
          <a:xfrm xmlns:a="http://schemas.openxmlformats.org/drawingml/2006/main">
            <a:off x="685800" y="26289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O que #155 acrescenta</a:t>
            </a:r>
          </a:p>
        </p:txBody>
      </p:sp>
      <p:sp>
        <p:nvSpPr>
          <p:cNvPr id="5" name="">
            <a:extLst xmlns:a="http://schemas.openxmlformats.org/drawingml/2006/main">
              <a:ext uri="{FF2B5EF4-FFF2-40B4-BE49-F238E27FC236}">
                <a16:creationId xmlns:a16="http://schemas.microsoft.com/office/drawing/2014/main" id="{85EAE197-9474-40C0-849F-7DB1E3C07416}"/>
              </a:ext>
            </a:extLst>
          </p:cNvPr>
          <p:cNvSpPr>
            <a:spLocks xmlns:a="http://schemas.openxmlformats.org/drawingml/2006/main" noGrp="1"/>
          </p:cNvSpPr>
          <p:nvPr/>
        </p:nvSpPr>
        <p:spPr>
          <a:xfrm xmlns:a="http://schemas.openxmlformats.org/drawingml/2006/main">
            <a:off x="3905250" y="26289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Guarda de consistência bidirecional, relacionada aos critérios da #154.</a:t>
            </a:r>
          </a:p>
        </p:txBody>
      </p:sp>
      <p:sp>
        <p:nvSpPr>
          <p:cNvPr id="6" name="">
            <a:extLst xmlns:a="http://schemas.openxmlformats.org/drawingml/2006/main">
              <a:ext uri="{FF2B5EF4-FFF2-40B4-BE49-F238E27FC236}">
                <a16:creationId xmlns:a16="http://schemas.microsoft.com/office/drawing/2014/main" id="{1DE7DC96-DE2C-4455-9F9B-C48FACC37F57}"/>
              </a:ext>
            </a:extLst>
          </p:cNvPr>
          <p:cNvSpPr>
            <a:spLocks xmlns:a="http://schemas.openxmlformats.org/drawingml/2006/main" noGrp="1"/>
          </p:cNvSpPr>
          <p:nvPr/>
        </p:nvSpPr>
        <p:spPr>
          <a:xfrm xmlns:a="http://schemas.openxmlformats.org/drawingml/2006/main">
            <a:off x="685800" y="36385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Próxima revisão</a:t>
            </a:r>
          </a:p>
        </p:txBody>
      </p:sp>
      <p:sp>
        <p:nvSpPr>
          <p:cNvPr id="7" name="">
            <a:extLst xmlns:a="http://schemas.openxmlformats.org/drawingml/2006/main">
              <a:ext uri="{FF2B5EF4-FFF2-40B4-BE49-F238E27FC236}">
                <a16:creationId xmlns:a16="http://schemas.microsoft.com/office/drawing/2014/main" id="{CFD7D043-1B1B-4D95-B9B8-23528BA8B468}"/>
              </a:ext>
            </a:extLst>
          </p:cNvPr>
          <p:cNvSpPr>
            <a:spLocks xmlns:a="http://schemas.openxmlformats.org/drawingml/2006/main" noGrp="1"/>
          </p:cNvSpPr>
          <p:nvPr/>
        </p:nvSpPr>
        <p:spPr>
          <a:xfrm xmlns:a="http://schemas.openxmlformats.org/drawingml/2006/main">
            <a:off x="3905250" y="36385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Conferir coluna omitida ou extra, escopo da guarda e árvore de validação.</a:t>
            </a:r>
          </a:p>
        </p:txBody>
      </p:sp>
      <p:sp>
        <p:nvSpPr>
          <p:cNvPr id="8" name="">
            <a:extLst xmlns:a="http://schemas.openxmlformats.org/drawingml/2006/main">
              <a:ext uri="{FF2B5EF4-FFF2-40B4-BE49-F238E27FC236}">
                <a16:creationId xmlns:a16="http://schemas.microsoft.com/office/drawing/2014/main" id="{BAF218E7-90A4-4425-899C-E95284C07AE8}"/>
              </a:ext>
            </a:extLst>
          </p:cNvPr>
          <p:cNvSpPr>
            <a:spLocks xmlns:a="http://schemas.openxmlformats.org/drawingml/2006/main" noGrp="1"/>
          </p:cNvSpPr>
          <p:nvPr/>
        </p:nvSpPr>
        <p:spPr>
          <a:xfrm xmlns:a="http://schemas.openxmlformats.org/drawingml/2006/main">
            <a:off x="685800" y="46482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Checks no corte</a:t>
            </a:r>
          </a:p>
        </p:txBody>
      </p:sp>
      <p:sp>
        <p:nvSpPr>
          <p:cNvPr id="9" name="">
            <a:extLst xmlns:a="http://schemas.openxmlformats.org/drawingml/2006/main">
              <a:ext uri="{FF2B5EF4-FFF2-40B4-BE49-F238E27FC236}">
                <a16:creationId xmlns:a16="http://schemas.microsoft.com/office/drawing/2014/main" id="{70F42CAA-3CD6-4FAE-9E56-05F54B54248E}"/>
              </a:ext>
            </a:extLst>
          </p:cNvPr>
          <p:cNvSpPr>
            <a:spLocks xmlns:a="http://schemas.openxmlformats.org/drawingml/2006/main" noGrp="1"/>
          </p:cNvSpPr>
          <p:nvPr/>
        </p:nvSpPr>
        <p:spPr>
          <a:xfrm xmlns:a="http://schemas.openxmlformats.org/drawingml/2006/main">
            <a:off x="3905250" y="46482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11 checks falhos. Isso, isoladamente, não demonstra asserção reprovada.</a:t>
            </a:r>
          </a:p>
        </p:txBody>
      </p:sp>
      <p:sp>
        <p:nvSpPr>
          <p:cNvPr id="10" name="">
            <a:extLst xmlns:a="http://schemas.openxmlformats.org/drawingml/2006/main">
              <a:ext uri="{FF2B5EF4-FFF2-40B4-BE49-F238E27FC236}">
                <a16:creationId xmlns:a16="http://schemas.microsoft.com/office/drawing/2014/main" id="{DCD2DDD7-C9C4-4BF2-B794-D017D59469B5}"/>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#155 permanece aberta. Revisão, integração e evidência residual precisam de encaminhamento próprio.</a:t>
            </a:r>
          </a:p>
        </p:txBody>
      </p:sp>
      <p:sp>
        <p:nvSpPr>
          <p:cNvPr id="11" name="">
            <a:extLst xmlns:a="http://schemas.openxmlformats.org/drawingml/2006/main">
              <a:ext uri="{FF2B5EF4-FFF2-40B4-BE49-F238E27FC236}">
                <a16:creationId xmlns:a16="http://schemas.microsoft.com/office/drawing/2014/main" id="{60FFB07C-3A78-4326-BFFD-C24001DAA870}"/>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eec7b8cb7f9c4f7a"/>
              </a:rPr>
              <a:t>APEX #190</a:t>
            </a:r>
          </a:p>
        </p:txBody>
      </p:sp>
      <p:sp>
        <p:nvSpPr>
          <p:cNvPr id="12" name="">
            <a:extLst xmlns:a="http://schemas.openxmlformats.org/drawingml/2006/main">
              <a:ext uri="{FF2B5EF4-FFF2-40B4-BE49-F238E27FC236}">
                <a16:creationId xmlns:a16="http://schemas.microsoft.com/office/drawing/2014/main" id="{EDE7B3F0-68A4-4317-ABCD-9A075D799E17}"/>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06 / 10</a:t>
            </a:r>
          </a:p>
        </p:txBody>
      </p:sp>
    </p:spTree>
    <p:extLst>
      <p:ext uri="{BB962C8B-B14F-4D97-AF65-F5344CB8AC3E}">
        <p14:creationId xmlns:p14="http://schemas.microsoft.com/office/powerpoint/2010/main" val="24470137"/>
      </p:ext>
    </p:extLst>
  </p:cSld>
</p:sld>
</file>

<file path=ppt/slides/slide7.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3DCBA6D-45CE-49B0-BDF4-BA3D6DB69640}"/>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A contribuição do Agmar na #185</a:t>
            </a:r>
          </a:p>
        </p:txBody>
      </p:sp>
      <p:sp>
        <p:nvSpPr>
          <p:cNvPr id="2" name="">
            <a:extLst xmlns:a="http://schemas.openxmlformats.org/drawingml/2006/main">
              <a:ext uri="{FF2B5EF4-FFF2-40B4-BE49-F238E27FC236}">
                <a16:creationId xmlns:a16="http://schemas.microsoft.com/office/drawing/2014/main" id="{DC3C08DE-5663-4E2E-B5F8-F342C9506AF8}"/>
              </a:ext>
            </a:extLst>
          </p:cNvPr>
          <p:cNvSpPr>
            <a:spLocks xmlns:a="http://schemas.openxmlformats.org/drawingml/2006/main" noGrp="1"/>
          </p:cNvSpPr>
          <p:nvPr/>
        </p:nvSpPr>
        <p:spPr>
          <a:xfrm xmlns:a="http://schemas.openxmlformats.org/drawingml/2006/main">
            <a:off x="685800" y="16192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Implementação na branch</a:t>
            </a:r>
          </a:p>
        </p:txBody>
      </p:sp>
      <p:sp>
        <p:nvSpPr>
          <p:cNvPr id="3" name="">
            <a:extLst xmlns:a="http://schemas.openxmlformats.org/drawingml/2006/main">
              <a:ext uri="{FF2B5EF4-FFF2-40B4-BE49-F238E27FC236}">
                <a16:creationId xmlns:a16="http://schemas.microsoft.com/office/drawing/2014/main" id="{881F4FFB-D618-41B7-8C08-3F945572777E}"/>
              </a:ext>
            </a:extLst>
          </p:cNvPr>
          <p:cNvSpPr>
            <a:spLocks xmlns:a="http://schemas.openxmlformats.org/drawingml/2006/main" noGrp="1"/>
          </p:cNvSpPr>
          <p:nvPr/>
        </p:nvSpPr>
        <p:spPr>
          <a:xfrm xmlns:a="http://schemas.openxmlformats.org/drawingml/2006/main">
            <a:off x="3905250" y="16192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Melhorias DEV/S3/runners/fingerprint e interface relacionada à #167.</a:t>
            </a:r>
          </a:p>
        </p:txBody>
      </p:sp>
      <p:sp>
        <p:nvSpPr>
          <p:cNvPr id="4" name="">
            <a:extLst xmlns:a="http://schemas.openxmlformats.org/drawingml/2006/main">
              <a:ext uri="{FF2B5EF4-FFF2-40B4-BE49-F238E27FC236}">
                <a16:creationId xmlns:a16="http://schemas.microsoft.com/office/drawing/2014/main" id="{5C32EB5B-CDB8-49A5-9D00-36B083459C72}"/>
              </a:ext>
            </a:extLst>
          </p:cNvPr>
          <p:cNvSpPr>
            <a:spLocks xmlns:a="http://schemas.openxmlformats.org/drawingml/2006/main" noGrp="1"/>
          </p:cNvSpPr>
          <p:nvPr/>
        </p:nvSpPr>
        <p:spPr>
          <a:xfrm xmlns:a="http://schemas.openxmlformats.org/drawingml/2006/main">
            <a:off x="685800" y="26289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Evidências do autor</a:t>
            </a:r>
          </a:p>
        </p:txBody>
      </p:sp>
      <p:sp>
        <p:nvSpPr>
          <p:cNvPr id="5" name="">
            <a:extLst xmlns:a="http://schemas.openxmlformats.org/drawingml/2006/main">
              <a:ext uri="{FF2B5EF4-FFF2-40B4-BE49-F238E27FC236}">
                <a16:creationId xmlns:a16="http://schemas.microsoft.com/office/drawing/2014/main" id="{DE3DE36C-887B-4529-94CC-1253BEC162CB}"/>
              </a:ext>
            </a:extLst>
          </p:cNvPr>
          <p:cNvSpPr>
            <a:spLocks xmlns:a="http://schemas.openxmlformats.org/drawingml/2006/main" noGrp="1"/>
          </p:cNvSpPr>
          <p:nvPr/>
        </p:nvSpPr>
        <p:spPr>
          <a:xfrm xmlns:a="http://schemas.openxmlformats.org/drawingml/2006/main">
            <a:off x="3905250" y="26289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106 testes offline, verificação em seis passos e quatro cenários live relatados.</a:t>
            </a:r>
          </a:p>
        </p:txBody>
      </p:sp>
      <p:sp>
        <p:nvSpPr>
          <p:cNvPr id="6" name="">
            <a:extLst xmlns:a="http://schemas.openxmlformats.org/drawingml/2006/main">
              <a:ext uri="{FF2B5EF4-FFF2-40B4-BE49-F238E27FC236}">
                <a16:creationId xmlns:a16="http://schemas.microsoft.com/office/drawing/2014/main" id="{E118B220-272F-41B0-8E22-E18648F92B25}"/>
              </a:ext>
            </a:extLst>
          </p:cNvPr>
          <p:cNvSpPr>
            <a:spLocks xmlns:a="http://schemas.openxmlformats.org/drawingml/2006/main" noGrp="1"/>
          </p:cNvSpPr>
          <p:nvPr/>
        </p:nvSpPr>
        <p:spPr>
          <a:xfrm xmlns:a="http://schemas.openxmlformats.org/drawingml/2006/main">
            <a:off x="685800" y="36385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Conferência</a:t>
            </a:r>
          </a:p>
        </p:txBody>
      </p:sp>
      <p:sp>
        <p:nvSpPr>
          <p:cNvPr id="7" name="">
            <a:extLst xmlns:a="http://schemas.openxmlformats.org/drawingml/2006/main">
              <a:ext uri="{FF2B5EF4-FFF2-40B4-BE49-F238E27FC236}">
                <a16:creationId xmlns:a16="http://schemas.microsoft.com/office/drawing/2014/main" id="{CEBDE0FD-A8CF-4226-896B-423D236EB352}"/>
              </a:ext>
            </a:extLst>
          </p:cNvPr>
          <p:cNvSpPr>
            <a:spLocks xmlns:a="http://schemas.openxmlformats.org/drawingml/2006/main" noGrp="1"/>
          </p:cNvSpPr>
          <p:nvPr/>
        </p:nvSpPr>
        <p:spPr>
          <a:xfrm xmlns:a="http://schemas.openxmlformats.org/drawingml/2006/main">
            <a:off x="3905250" y="36385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38 patches reconsiderados, com wrapper e sbt 1.10.7 conferidos.</a:t>
            </a:r>
          </a:p>
        </p:txBody>
      </p:sp>
      <p:sp>
        <p:nvSpPr>
          <p:cNvPr id="8" name="">
            <a:extLst xmlns:a="http://schemas.openxmlformats.org/drawingml/2006/main">
              <a:ext uri="{FF2B5EF4-FFF2-40B4-BE49-F238E27FC236}">
                <a16:creationId xmlns:a16="http://schemas.microsoft.com/office/drawing/2014/main" id="{CA660264-113E-485E-A774-0C68C1A23E2B}"/>
              </a:ext>
            </a:extLst>
          </p:cNvPr>
          <p:cNvSpPr>
            <a:spLocks xmlns:a="http://schemas.openxmlformats.org/drawingml/2006/main" noGrp="1"/>
          </p:cNvSpPr>
          <p:nvPr/>
        </p:nvSpPr>
        <p:spPr>
          <a:xfrm xmlns:a="http://schemas.openxmlformats.org/drawingml/2006/main">
            <a:off x="685800" y="46482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Limites preservados</a:t>
            </a:r>
          </a:p>
        </p:txBody>
      </p:sp>
      <p:sp>
        <p:nvSpPr>
          <p:cNvPr id="9" name="">
            <a:extLst xmlns:a="http://schemas.openxmlformats.org/drawingml/2006/main">
              <a:ext uri="{FF2B5EF4-FFF2-40B4-BE49-F238E27FC236}">
                <a16:creationId xmlns:a16="http://schemas.microsoft.com/office/drawing/2014/main" id="{4E34564E-AAF7-4CB6-BEBC-F5E221C8F971}"/>
              </a:ext>
            </a:extLst>
          </p:cNvPr>
          <p:cNvSpPr>
            <a:spLocks xmlns:a="http://schemas.openxmlformats.org/drawingml/2006/main" noGrp="1"/>
          </p:cNvSpPr>
          <p:nvPr/>
        </p:nvSpPr>
        <p:spPr>
          <a:xfrm xmlns:a="http://schemas.openxmlformats.org/drawingml/2006/main">
            <a:off x="3905250" y="46482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EnvFile e Compose variam por caminho. Melhorias não encerram #123/#174/#178 por associação.</a:t>
            </a:r>
          </a:p>
        </p:txBody>
      </p:sp>
      <p:sp>
        <p:nvSpPr>
          <p:cNvPr id="10" name="">
            <a:extLst xmlns:a="http://schemas.openxmlformats.org/drawingml/2006/main">
              <a:ext uri="{FF2B5EF4-FFF2-40B4-BE49-F238E27FC236}">
                <a16:creationId xmlns:a16="http://schemas.microsoft.com/office/drawing/2014/main" id="{DBFFCB37-2112-4299-A3DE-2645173E3B35}"/>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#185 aberta, fora da main. Quatro checks verdes e zero reviews formais no corte consultado.</a:t>
            </a:r>
          </a:p>
        </p:txBody>
      </p:sp>
      <p:sp>
        <p:nvSpPr>
          <p:cNvPr id="11" name="">
            <a:extLst xmlns:a="http://schemas.openxmlformats.org/drawingml/2006/main">
              <a:ext uri="{FF2B5EF4-FFF2-40B4-BE49-F238E27FC236}">
                <a16:creationId xmlns:a16="http://schemas.microsoft.com/office/drawing/2014/main" id="{C5707608-83C7-4B04-AB2C-D2019EEB7FCA}"/>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4032109968474a39"/>
              </a:rPr>
              <a:t>APEX #190</a:t>
            </a:r>
          </a:p>
        </p:txBody>
      </p:sp>
      <p:sp>
        <p:nvSpPr>
          <p:cNvPr id="12" name="">
            <a:extLst xmlns:a="http://schemas.openxmlformats.org/drawingml/2006/main">
              <a:ext uri="{FF2B5EF4-FFF2-40B4-BE49-F238E27FC236}">
                <a16:creationId xmlns:a16="http://schemas.microsoft.com/office/drawing/2014/main" id="{F957CAAE-BFE4-4275-BB6E-F67CA15B611B}"/>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07 / 10</a:t>
            </a:r>
          </a:p>
        </p:txBody>
      </p:sp>
    </p:spTree>
    <p:extLst>
      <p:ext uri="{BB962C8B-B14F-4D97-AF65-F5344CB8AC3E}">
        <p14:creationId xmlns:p14="http://schemas.microsoft.com/office/powerpoint/2010/main" val="668964838"/>
      </p:ext>
    </p:extLst>
  </p:cSld>
</p:sld>
</file>

<file path=ppt/slides/slide8.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59F796B-8894-489C-A759-B8E34C71B3F4}"/>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Encaminhamentos pequenos para revisão</a:t>
            </a:r>
          </a:p>
        </p:txBody>
      </p:sp>
      <p:graphicFrame>
        <p:nvGraphicFramePr>
          <p:cNvPr id="2" name="">
            <a:extLst xmlns:a="http://schemas.openxmlformats.org/drawingml/2006/main">
              <a:ext uri="{FF2B5EF4-FFF2-40B4-BE49-F238E27FC236}">
                <a16:creationId xmlns:a16="http://schemas.microsoft.com/office/drawing/2014/main" id="{1F3AF79E-DDFB-4316-97E0-59F7A492ACA5}"/>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firstRow="1" bandRow="0"/>
              <a:tblGrid>
                <a:gridCol w="1952625"/>
                <a:gridCol w="3810000"/>
                <a:gridCol w="5057775"/>
              </a:tblGrid>
              <a:tr h="552450">
                <a:tc>
                  <a:txBody>
                    <a:bodyPr wrap="square" lIns="123825" tIns="85725" rIns="123825" bIns="76200"/>
                    <a:lstStyle/>
                    <a:p>
                      <a:r>
                        <a:rPr sz="1875" b="1">
                          <a:solidFill>
                            <a:srgbClr val="FFFFFF"/>
                          </a:solidFill>
                          <a:latin typeface="Arial"/>
                          <a:ea typeface="Arial"/>
                          <a:cs typeface="Arial"/>
                        </a:rPr>
                        <a:t>Entrada</a:t>
                      </a:r>
                    </a:p>
                  </a:txBody>
                  <a:tcPr marL="91440" marR="91440" marT="45720" marB="45720" anchor="ctr">
                    <a:lnL w="7144">
                      <a:solidFill>
                        <a:srgbClr val="D6DFDF"/>
                      </a:solidFill>
                      <a:prstDash val="solid"/>
                    </a:lnL>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Saída proposta</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Critério de conclusão</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r>
              <a:tr h="1022350">
                <a:tc>
                  <a:txBody>
                    <a:bodyPr wrap="square" lIns="123825" tIns="85725" rIns="123825" bIns="76200"/>
                    <a:lstStyle/>
                    <a:p>
                      <a:r>
                        <a:rPr sz="1875" b="0">
                          <a:solidFill>
                            <a:srgbClr val="152C39"/>
                          </a:solidFill>
                          <a:latin typeface="Arial"/>
                          <a:ea typeface="Arial"/>
                          <a:cs typeface="Arial"/>
                        </a:rPr>
                        <a:t>#155 / #154</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Parecer da guarda de consistência.</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Identificar detecção de omitidas/extras e residual de prova ou integração.</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1022350">
                <a:tc>
                  <a:txBody>
                    <a:bodyPr wrap="square" lIns="123825" tIns="85725" rIns="123825" bIns="76200"/>
                    <a:lstStyle/>
                    <a:p>
                      <a:r>
                        <a:rPr sz="1875" b="0">
                          <a:solidFill>
                            <a:srgbClr val="152C39"/>
                          </a:solidFill>
                          <a:latin typeface="Arial"/>
                          <a:ea typeface="Arial"/>
                          <a:cs typeface="Arial"/>
                        </a:rPr>
                        <a:t>#167 / #185</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Mapa ON/OFF e argumentos dos runners.</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Conferir parâmetros, comando produzido e lacunas próprias de cada caminho.</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r h="1022350">
                <a:tc>
                  <a:txBody>
                    <a:bodyPr wrap="square" lIns="123825" tIns="85725" rIns="123825" bIns="76200"/>
                    <a:lstStyle/>
                    <a:p>
                      <a:r>
                        <a:rPr sz="1875" b="0">
                          <a:solidFill>
                            <a:srgbClr val="152C39"/>
                          </a:solidFill>
                          <a:latin typeface="Arial"/>
                          <a:ea typeface="Arial"/>
                          <a:cs typeface="Arial"/>
                        </a:rPr>
                        <a:t>#124 / #128</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Controle seguro do dispatcher.</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Trocar Command mantendo Handler e demonstrar que o controle distingue a execução.</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5253653-F2AF-49B9-B877-5AB0AFE42A80}"/>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São recortes propostos. Implementação ou execução posterior precisa do escopo escolhido.</a:t>
            </a:r>
          </a:p>
        </p:txBody>
      </p:sp>
      <p:sp>
        <p:nvSpPr>
          <p:cNvPr id="4" name="">
            <a:extLst xmlns:a="http://schemas.openxmlformats.org/drawingml/2006/main">
              <a:ext uri="{FF2B5EF4-FFF2-40B4-BE49-F238E27FC236}">
                <a16:creationId xmlns:a16="http://schemas.microsoft.com/office/drawing/2014/main" id="{72443B89-1DE2-4190-AA43-70C493F543FE}"/>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e43abae650074b26"/>
              </a:rPr>
              <a:t>APEX #190</a:t>
            </a:r>
          </a:p>
        </p:txBody>
      </p:sp>
      <p:sp>
        <p:nvSpPr>
          <p:cNvPr id="5" name="">
            <a:extLst xmlns:a="http://schemas.openxmlformats.org/drawingml/2006/main">
              <a:ext uri="{FF2B5EF4-FFF2-40B4-BE49-F238E27FC236}">
                <a16:creationId xmlns:a16="http://schemas.microsoft.com/office/drawing/2014/main" id="{B926CBF8-C72F-49D5-95CC-57B5E491A1D3}"/>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08 / 10</a:t>
            </a:r>
          </a:p>
        </p:txBody>
      </p:sp>
    </p:spTree>
    <p:extLst>
      <p:ext uri="{BB962C8B-B14F-4D97-AF65-F5344CB8AC3E}">
        <p14:creationId xmlns:p14="http://schemas.microsoft.com/office/powerpoint/2010/main" val="1597467378"/>
      </p:ext>
    </p:extLst>
  </p:cSld>
</p:sld>
</file>

<file path=ppt/slides/slide9.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539E9C3-421E-4029-9752-41FD8E092B08}"/>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Decisões e oportunidades do Engine</a:t>
            </a:r>
          </a:p>
        </p:txBody>
      </p:sp>
      <p:graphicFrame>
        <p:nvGraphicFramePr>
          <p:cNvPr id="2" name="">
            <a:extLst xmlns:a="http://schemas.openxmlformats.org/drawingml/2006/main">
              <a:ext uri="{FF2B5EF4-FFF2-40B4-BE49-F238E27FC236}">
                <a16:creationId xmlns:a16="http://schemas.microsoft.com/office/drawing/2014/main" id="{A168B425-D6DD-4812-AA33-7814283C7BCC}"/>
              </a:ext>
            </a:extLst>
          </p:cNvPr>
          <p:cNvGraphicFramePr/>
          <p:nvPr/>
        </p:nvGraphicFramePr>
        <p:xfrm>
          <a:off xmlns:a="http://schemas.openxmlformats.org/drawingml/2006/main" x="685800" y="1524000"/>
          <a:ext xmlns:a="http://schemas.openxmlformats.org/drawingml/2006/main" cx="10820400" cy="3905250"/>
        </p:xfrm>
        <a:graphic xmlns:a="http://schemas.openxmlformats.org/drawingml/2006/main">
          <a:graphicData uri="http://schemas.openxmlformats.org/drawingml/2006/table">
            <a:tbl>
              <a:tblPr firstRow="1" bandRow="0"/>
              <a:tblGrid>
                <a:gridCol w="2143125"/>
                <a:gridCol w="2476500"/>
                <a:gridCol w="6200775"/>
              </a:tblGrid>
              <a:tr h="552450">
                <a:tc>
                  <a:txBody>
                    <a:bodyPr wrap="square" lIns="123825" tIns="85725" rIns="123825" bIns="76200"/>
                    <a:lstStyle/>
                    <a:p>
                      <a:r>
                        <a:rPr sz="1875" b="1">
                          <a:solidFill>
                            <a:srgbClr val="FFFFFF"/>
                          </a:solidFill>
                          <a:latin typeface="Arial"/>
                          <a:ea typeface="Arial"/>
                          <a:cs typeface="Arial"/>
                        </a:rPr>
                        <a:t>Tema</a:t>
                      </a:r>
                    </a:p>
                  </a:txBody>
                  <a:tcPr marL="91440" marR="91440" marT="45720" marB="45720" anchor="ctr">
                    <a:lnL w="7144">
                      <a:solidFill>
                        <a:srgbClr val="D6DFDF"/>
                      </a:solidFill>
                      <a:prstDash val="solid"/>
                    </a:lnL>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Registro</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c>
                  <a:txBody>
                    <a:bodyPr wrap="square" lIns="123825" tIns="85725" rIns="123825" bIns="76200"/>
                    <a:lstStyle/>
                    <a:p>
                      <a:r>
                        <a:rPr sz="1875" b="1">
                          <a:solidFill>
                            <a:srgbClr val="FFFFFF"/>
                          </a:solidFill>
                          <a:latin typeface="Arial"/>
                          <a:ea typeface="Arial"/>
                          <a:cs typeface="Arial"/>
                        </a:rPr>
                        <a:t>O que ainda precisa de escolha</a:t>
                      </a:r>
                    </a:p>
                  </a:txBody>
                  <a:tcPr marL="91440" marR="91440" marT="45720" marB="45720" anchor="ctr">
                    <a:lnR w="7144">
                      <a:solidFill>
                        <a:srgbClr val="D6DFDF"/>
                      </a:solidFill>
                      <a:prstDash val="solid"/>
                    </a:lnR>
                    <a:lnT w="7144">
                      <a:solidFill>
                        <a:srgbClr val="D6DFDF"/>
                      </a:solidFill>
                      <a:prstDash val="solid"/>
                    </a:lnT>
                    <a:lnB w="7144">
                      <a:solidFill>
                        <a:srgbClr val="D6DFDF"/>
                      </a:solidFill>
                      <a:prstDash val="solid"/>
                    </a:lnB>
                    <a:solidFill>
                      <a:srgbClr val="143B4B"/>
                    </a:solidFill>
                  </a:tcPr>
                </a:tc>
              </a:tr>
              <a:tr h="670560">
                <a:tc>
                  <a:txBody>
                    <a:bodyPr wrap="square" lIns="123825" tIns="85725" rIns="123825" bIns="76200"/>
                    <a:lstStyle/>
                    <a:p>
                      <a:r>
                        <a:rPr sz="1875" b="0">
                          <a:solidFill>
                            <a:srgbClr val="152C39"/>
                          </a:solidFill>
                          <a:latin typeface="Arial"/>
                          <a:ea typeface="Arial"/>
                          <a:cs typeface="Arial"/>
                        </a:rPr>
                        <a:t>Atribuição</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#115</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Primeiro consumidor e contrato de identidades.</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670560">
                <a:tc>
                  <a:txBody>
                    <a:bodyPr wrap="square" lIns="123825" tIns="85725" rIns="123825" bIns="76200"/>
                    <a:lstStyle/>
                    <a:p>
                      <a:r>
                        <a:rPr sz="1875" b="0">
                          <a:solidFill>
                            <a:srgbClr val="152C39"/>
                          </a:solidFill>
                          <a:latin typeface="Arial"/>
                          <a:ea typeface="Arial"/>
                          <a:cs typeface="Arial"/>
                        </a:rPr>
                        <a:t>Tail-outlier</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#123</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Garantia por job, stage/tentativa e snapshot exigida pelo critério.</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r h="670560">
                <a:tc>
                  <a:txBody>
                    <a:bodyPr wrap="square" lIns="123825" tIns="85725" rIns="123825" bIns="76200"/>
                    <a:lstStyle/>
                    <a:p>
                      <a:r>
                        <a:rPr sz="1875" b="0">
                          <a:solidFill>
                            <a:srgbClr val="152C39"/>
                          </a:solidFill>
                          <a:latin typeface="Arial"/>
                          <a:ea typeface="Arial"/>
                          <a:cs typeface="Arial"/>
                        </a:rPr>
                        <a:t>Overhead</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#113</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Protocolo de medição, warm-up, estimador e resultados inconclusivos.</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r h="670560">
                <a:tc>
                  <a:txBody>
                    <a:bodyPr wrap="square" lIns="123825" tIns="85725" rIns="123825" bIns="76200"/>
                    <a:lstStyle/>
                    <a:p>
                      <a:r>
                        <a:rPr sz="1875" b="0">
                          <a:solidFill>
                            <a:srgbClr val="152C39"/>
                          </a:solidFill>
                          <a:latin typeface="Arial"/>
                          <a:ea typeface="Arial"/>
                          <a:cs typeface="Arial"/>
                        </a:rPr>
                        <a:t>Operação</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#174 / #175</a:t>
                      </a:r>
                    </a:p>
                  </a:txBody>
                  <a:tcPr marL="91440" marR="91440" marT="45720" marB="45720" anchor="ctr">
                    <a:lnR w="7144">
                      <a:solidFill>
                        <a:srgbClr val="D6DFDF"/>
                      </a:solidFill>
                      <a:prstDash val="solid"/>
                    </a:lnR>
                    <a:lnB w="7144">
                      <a:solidFill>
                        <a:srgbClr val="D6DFDF"/>
                      </a:solidFill>
                      <a:prstDash val="solid"/>
                    </a:lnB>
                    <a:solidFill>
                      <a:srgbClr val="EAF0EF"/>
                    </a:solidFill>
                  </a:tcPr>
                </a:tc>
                <a:tc>
                  <a:txBody>
                    <a:bodyPr wrap="square" lIns="123825" tIns="85725" rIns="123825" bIns="76200"/>
                    <a:lstStyle/>
                    <a:p>
                      <a:r>
                        <a:rPr sz="1875" b="0">
                          <a:solidFill>
                            <a:srgbClr val="152C39"/>
                          </a:solidFill>
                          <a:latin typeface="Arial"/>
                          <a:ea typeface="Arial"/>
                          <a:cs typeface="Arial"/>
                        </a:rPr>
                        <a:t>Preservação de configuração e identidade/ownership dos recursos.</a:t>
                      </a:r>
                    </a:p>
                  </a:txBody>
                  <a:tcPr marL="91440" marR="91440" marT="45720" marB="45720" anchor="ctr">
                    <a:lnR w="7144">
                      <a:solidFill>
                        <a:srgbClr val="D6DFDF"/>
                      </a:solidFill>
                      <a:prstDash val="solid"/>
                    </a:lnR>
                    <a:lnB w="7144">
                      <a:solidFill>
                        <a:srgbClr val="D6DFDF"/>
                      </a:solidFill>
                      <a:prstDash val="solid"/>
                    </a:lnB>
                    <a:solidFill>
                      <a:srgbClr val="EAF0EF"/>
                    </a:solidFill>
                  </a:tcPr>
                </a:tc>
              </a:tr>
              <a:tr h="670560">
                <a:tc>
                  <a:txBody>
                    <a:bodyPr wrap="square" lIns="123825" tIns="85725" rIns="123825" bIns="76200"/>
                    <a:lstStyle/>
                    <a:p>
                      <a:r>
                        <a:rPr sz="1875" b="0">
                          <a:solidFill>
                            <a:srgbClr val="152C39"/>
                          </a:solidFill>
                          <a:latin typeface="Arial"/>
                          <a:ea typeface="Arial"/>
                          <a:cs typeface="Arial"/>
                        </a:rPr>
                        <a:t>Contratos</a:t>
                      </a:r>
                    </a:p>
                  </a:txBody>
                  <a:tcPr marL="91440" marR="91440" marT="45720" marB="45720" anchor="ctr">
                    <a:lnL w="7144">
                      <a:solidFill>
                        <a:srgbClr val="D6DFDF"/>
                      </a:solidFill>
                      <a:prstDash val="solid"/>
                    </a:lnL>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#169 / #170 / #173</a:t>
                      </a:r>
                    </a:p>
                  </a:txBody>
                  <a:tcPr marL="91440" marR="91440" marT="45720" marB="45720" anchor="ctr">
                    <a:lnR w="7144">
                      <a:solidFill>
                        <a:srgbClr val="D6DFDF"/>
                      </a:solidFill>
                      <a:prstDash val="solid"/>
                    </a:lnR>
                    <a:lnB w="7144">
                      <a:solidFill>
                        <a:srgbClr val="D6DFDF"/>
                      </a:solidFill>
                      <a:prstDash val="solid"/>
                    </a:lnB>
                    <a:solidFill>
                      <a:srgbClr val="FFFFFF"/>
                    </a:solidFill>
                  </a:tcPr>
                </a:tc>
                <a:tc>
                  <a:txBody>
                    <a:bodyPr wrap="square" lIns="123825" tIns="85725" rIns="123825" bIns="76200"/>
                    <a:lstStyle/>
                    <a:p>
                      <a:r>
                        <a:rPr sz="1875" b="0">
                          <a:solidFill>
                            <a:srgbClr val="152C39"/>
                          </a:solidFill>
                          <a:latin typeface="Arial"/>
                          <a:ea typeface="Arial"/>
                          <a:cs typeface="Arial"/>
                        </a:rPr>
                        <a:t>Fatia de população/tentativa, replay ou database por consumidor.</a:t>
                      </a:r>
                    </a:p>
                  </a:txBody>
                  <a:tcPr marL="91440" marR="91440" marT="45720" marB="45720" anchor="ctr">
                    <a:lnR w="7144">
                      <a:solidFill>
                        <a:srgbClr val="D6DFDF"/>
                      </a:solidFill>
                      <a:prstDash val="solid"/>
                    </a:lnR>
                    <a:lnB w="7144">
                      <a:solidFill>
                        <a:srgbClr val="D6DFDF"/>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323C8C7-D099-486B-93EE-A52058F64893}"/>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Uma decisão por registro. Adiar um estudo não bloqueia toda revisão independente.</a:t>
            </a:r>
          </a:p>
        </p:txBody>
      </p:sp>
      <p:sp>
        <p:nvSpPr>
          <p:cNvPr id="4" name="">
            <a:extLst xmlns:a="http://schemas.openxmlformats.org/drawingml/2006/main">
              <a:ext uri="{FF2B5EF4-FFF2-40B4-BE49-F238E27FC236}">
                <a16:creationId xmlns:a16="http://schemas.microsoft.com/office/drawing/2014/main" id="{8A673093-843C-448B-AD4B-CCB335AEDD09}"/>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1f7047440a664f08"/>
              </a:rPr>
              <a:t>APEX #190</a:t>
            </a:r>
          </a:p>
        </p:txBody>
      </p:sp>
      <p:sp>
        <p:nvSpPr>
          <p:cNvPr id="5" name="">
            <a:extLst xmlns:a="http://schemas.openxmlformats.org/drawingml/2006/main">
              <a:ext uri="{FF2B5EF4-FFF2-40B4-BE49-F238E27FC236}">
                <a16:creationId xmlns:a16="http://schemas.microsoft.com/office/drawing/2014/main" id="{1893710A-BBFB-44F1-B755-10C624256913}"/>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09 / 10</a:t>
            </a:r>
          </a:p>
        </p:txBody>
      </p:sp>
    </p:spTree>
    <p:extLst>
      <p:ext uri="{BB962C8B-B14F-4D97-AF65-F5344CB8AC3E}">
        <p14:creationId xmlns:p14="http://schemas.microsoft.com/office/powerpoint/2010/main" val="1975032089"/>
      </p:ext>
    </p:extLst>
  </p:cSld>
</p:sld>
</file>

<file path=ppt/slides/slide10.xml><?xml version="1.0" encoding="utf-8"?>
<p:sld xmlns:p="http://schemas.openxmlformats.org/presentationml/2006/main">
  <p:cSld>
    <p:bg>
      <p:bgPr>
        <a:solidFill xmlns:a="http://schemas.openxmlformats.org/drawingml/2006/main">
          <a:srgbClr val="F6F5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56F35C3-156D-4806-A164-1C4E3E8BDF03}"/>
              </a:ext>
            </a:extLst>
          </p:cNvPr>
          <p:cNvSpPr>
            <a:spLocks xmlns:a="http://schemas.openxmlformats.org/drawingml/2006/main" noGrp="1"/>
          </p:cNvSpPr>
          <p:nvPr/>
        </p:nvSpPr>
        <p:spPr>
          <a:xfrm xmlns:a="http://schemas.openxmlformats.org/drawingml/2006/main">
            <a:off x="685800" y="523875"/>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00" b="1">
                <a:solidFill>
                  <a:srgbClr val="152C39"/>
                </a:solidFill>
                <a:latin typeface="Arial"/>
                <a:ea typeface="Arial"/>
                <a:cs typeface="Arial"/>
              </a:defRPr>
            </a:defPPr>
            <a:lvl1pPr>
              <a:defRPr sz="3300" b="1">
                <a:solidFill>
                  <a:srgbClr val="152C39"/>
                </a:solidFill>
                <a:latin typeface="Arial"/>
                <a:ea typeface="Arial"/>
                <a:cs typeface="Arial"/>
              </a:defRPr>
            </a:lvl1pPr>
            <a:lvl2pPr>
              <a:defRPr sz="3300" b="1">
                <a:solidFill>
                  <a:srgbClr val="152C39"/>
                </a:solidFill>
                <a:latin typeface="Arial"/>
                <a:ea typeface="Arial"/>
                <a:cs typeface="Arial"/>
              </a:defRPr>
            </a:lvl2pPr>
            <a:lvl3pPr>
              <a:defRPr sz="3300" b="1">
                <a:solidFill>
                  <a:srgbClr val="152C39"/>
                </a:solidFill>
                <a:latin typeface="Arial"/>
                <a:ea typeface="Arial"/>
                <a:cs typeface="Arial"/>
              </a:defRPr>
            </a:lvl3pPr>
            <a:lvl4pPr>
              <a:defRPr sz="3300" b="1">
                <a:solidFill>
                  <a:srgbClr val="152C39"/>
                </a:solidFill>
                <a:latin typeface="Arial"/>
                <a:ea typeface="Arial"/>
                <a:cs typeface="Arial"/>
              </a:defRPr>
            </a:lvl4pPr>
            <a:lvl5pPr>
              <a:defRPr sz="3300" b="1">
                <a:solidFill>
                  <a:srgbClr val="152C39"/>
                </a:solidFill>
                <a:latin typeface="Arial"/>
                <a:ea typeface="Arial"/>
                <a:cs typeface="Arial"/>
              </a:defRPr>
            </a:lvl5pPr>
            <a:lvl6pPr>
              <a:defRPr sz="3300" b="1">
                <a:solidFill>
                  <a:srgbClr val="152C39"/>
                </a:solidFill>
                <a:latin typeface="Arial"/>
                <a:ea typeface="Arial"/>
                <a:cs typeface="Arial"/>
              </a:defRPr>
            </a:lvl6pPr>
            <a:lvl7pPr>
              <a:defRPr sz="3300" b="1">
                <a:solidFill>
                  <a:srgbClr val="152C39"/>
                </a:solidFill>
                <a:latin typeface="Arial"/>
                <a:ea typeface="Arial"/>
                <a:cs typeface="Arial"/>
              </a:defRPr>
            </a:lvl7pPr>
            <a:lvl8pPr>
              <a:defRPr sz="3300" b="1">
                <a:solidFill>
                  <a:srgbClr val="152C39"/>
                </a:solidFill>
                <a:latin typeface="Arial"/>
                <a:ea typeface="Arial"/>
                <a:cs typeface="Arial"/>
              </a:defRPr>
            </a:lvl8pPr>
            <a:lvl9pPr>
              <a:defRPr sz="3300" b="1">
                <a:solidFill>
                  <a:srgbClr val="152C39"/>
                </a:solidFill>
                <a:latin typeface="Arial"/>
                <a:ea typeface="Arial"/>
                <a:cs typeface="Arial"/>
              </a:defRPr>
            </a:lvl9pPr>
          </a:lstStyle>
          <a:p xmlns:a="http://schemas.openxmlformats.org/drawingml/2006/main">
            <a:pPr>
              <a:defRPr sz="3300" b="1">
                <a:solidFill>
                  <a:srgbClr val="152C39"/>
                </a:solidFill>
                <a:latin typeface="Arial"/>
                <a:ea typeface="Arial"/>
                <a:cs typeface="Arial"/>
              </a:defRPr>
            </a:pPr>
            <a:r>
              <a:rPr sz="3300" b="1">
                <a:solidFill>
                  <a:srgbClr val="152C39"/>
                </a:solidFill>
                <a:latin typeface="Arial"/>
                <a:ea typeface="Arial"/>
                <a:cs typeface="Arial"/>
              </a:rPr>
              <a:t>Onde o time pode verificar</a:t>
            </a:r>
          </a:p>
        </p:txBody>
      </p:sp>
      <p:sp>
        <p:nvSpPr>
          <p:cNvPr id="2" name="">
            <a:extLst xmlns:a="http://schemas.openxmlformats.org/drawingml/2006/main">
              <a:ext uri="{FF2B5EF4-FFF2-40B4-BE49-F238E27FC236}">
                <a16:creationId xmlns:a16="http://schemas.microsoft.com/office/drawing/2014/main" id="{8BA92FA5-06BF-4061-B2E3-D808F3C35C3B}"/>
              </a:ext>
            </a:extLst>
          </p:cNvPr>
          <p:cNvSpPr>
            <a:spLocks xmlns:a="http://schemas.openxmlformats.org/drawingml/2006/main" noGrp="1"/>
          </p:cNvSpPr>
          <p:nvPr/>
        </p:nvSpPr>
        <p:spPr>
          <a:xfrm xmlns:a="http://schemas.openxmlformats.org/drawingml/2006/main">
            <a:off x="685800" y="16192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#190</a:t>
            </a:r>
          </a:p>
        </p:txBody>
      </p:sp>
      <p:sp>
        <p:nvSpPr>
          <p:cNvPr id="3" name="">
            <a:extLst xmlns:a="http://schemas.openxmlformats.org/drawingml/2006/main">
              <a:ext uri="{FF2B5EF4-FFF2-40B4-BE49-F238E27FC236}">
                <a16:creationId xmlns:a16="http://schemas.microsoft.com/office/drawing/2014/main" id="{B20A6B6B-BB98-4301-BCC8-40E71E704273}"/>
              </a:ext>
            </a:extLst>
          </p:cNvPr>
          <p:cNvSpPr>
            <a:spLocks xmlns:a="http://schemas.openxmlformats.org/drawingml/2006/main" noGrp="1"/>
          </p:cNvSpPr>
          <p:nvPr/>
        </p:nvSpPr>
        <p:spPr>
          <a:xfrm xmlns:a="http://schemas.openxmlformats.org/drawingml/2006/main">
            <a:off x="3905250" y="16192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Minha visão do Engine e das interfaces, com entregas e oportunidades.</a:t>
            </a:r>
          </a:p>
        </p:txBody>
      </p:sp>
      <p:sp>
        <p:nvSpPr>
          <p:cNvPr id="4" name="">
            <a:extLst xmlns:a="http://schemas.openxmlformats.org/drawingml/2006/main">
              <a:ext uri="{FF2B5EF4-FFF2-40B4-BE49-F238E27FC236}">
                <a16:creationId xmlns:a16="http://schemas.microsoft.com/office/drawing/2014/main" id="{62F9A225-1F38-4387-9FC9-A79000EEC908}"/>
              </a:ext>
            </a:extLst>
          </p:cNvPr>
          <p:cNvSpPr>
            <a:spLocks xmlns:a="http://schemas.openxmlformats.org/drawingml/2006/main" noGrp="1"/>
          </p:cNvSpPr>
          <p:nvPr/>
        </p:nvSpPr>
        <p:spPr>
          <a:xfrm xmlns:a="http://schemas.openxmlformats.org/drawingml/2006/main">
            <a:off x="685800" y="26289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#189</a:t>
            </a:r>
          </a:p>
        </p:txBody>
      </p:sp>
      <p:sp>
        <p:nvSpPr>
          <p:cNvPr id="5" name="">
            <a:extLst xmlns:a="http://schemas.openxmlformats.org/drawingml/2006/main">
              <a:ext uri="{FF2B5EF4-FFF2-40B4-BE49-F238E27FC236}">
                <a16:creationId xmlns:a16="http://schemas.microsoft.com/office/drawing/2014/main" id="{CBCD5647-2B44-473C-83FE-CAE32DF886A4}"/>
              </a:ext>
            </a:extLst>
          </p:cNvPr>
          <p:cNvSpPr>
            <a:spLocks xmlns:a="http://schemas.openxmlformats.org/drawingml/2006/main" noGrp="1"/>
          </p:cNvSpPr>
          <p:nvPr/>
        </p:nvSpPr>
        <p:spPr>
          <a:xfrm xmlns:a="http://schemas.openxmlformats.org/drawingml/2006/main">
            <a:off x="3905250" y="26289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Pacote documental em rascunho, com exemplos, evidências e decisões.</a:t>
            </a:r>
          </a:p>
        </p:txBody>
      </p:sp>
      <p:sp>
        <p:nvSpPr>
          <p:cNvPr id="6" name="">
            <a:extLst xmlns:a="http://schemas.openxmlformats.org/drawingml/2006/main">
              <a:ext uri="{FF2B5EF4-FFF2-40B4-BE49-F238E27FC236}">
                <a16:creationId xmlns:a16="http://schemas.microsoft.com/office/drawing/2014/main" id="{69C55462-5FA2-40F4-AECA-EBC680BDD8F5}"/>
              </a:ext>
            </a:extLst>
          </p:cNvPr>
          <p:cNvSpPr>
            <a:spLocks xmlns:a="http://schemas.openxmlformats.org/drawingml/2006/main" noGrp="1"/>
          </p:cNvSpPr>
          <p:nvPr/>
        </p:nvSpPr>
        <p:spPr>
          <a:xfrm xmlns:a="http://schemas.openxmlformats.org/drawingml/2006/main">
            <a:off x="685800" y="363855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#186</a:t>
            </a:r>
          </a:p>
        </p:txBody>
      </p:sp>
      <p:sp>
        <p:nvSpPr>
          <p:cNvPr id="7" name="">
            <a:extLst xmlns:a="http://schemas.openxmlformats.org/drawingml/2006/main">
              <a:ext uri="{FF2B5EF4-FFF2-40B4-BE49-F238E27FC236}">
                <a16:creationId xmlns:a16="http://schemas.microsoft.com/office/drawing/2014/main" id="{F0B1733D-B4EE-4977-9518-43E88A286D09}"/>
              </a:ext>
            </a:extLst>
          </p:cNvPr>
          <p:cNvSpPr>
            <a:spLocks xmlns:a="http://schemas.openxmlformats.org/drawingml/2006/main" noGrp="1"/>
          </p:cNvSpPr>
          <p:nvPr/>
        </p:nvSpPr>
        <p:spPr>
          <a:xfrm xmlns:a="http://schemas.openxmlformats.org/drawingml/2006/main">
            <a:off x="3905250" y="363855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525 IDs documentados e revalidação de 93 PRs, com alcance por item.</a:t>
            </a:r>
          </a:p>
        </p:txBody>
      </p:sp>
      <p:sp>
        <p:nvSpPr>
          <p:cNvPr id="8" name="">
            <a:extLst xmlns:a="http://schemas.openxmlformats.org/drawingml/2006/main">
              <a:ext uri="{FF2B5EF4-FFF2-40B4-BE49-F238E27FC236}">
                <a16:creationId xmlns:a16="http://schemas.microsoft.com/office/drawing/2014/main" id="{BB5C4961-DF7E-4369-8394-47AD9D87EEDA}"/>
              </a:ext>
            </a:extLst>
          </p:cNvPr>
          <p:cNvSpPr>
            <a:spLocks xmlns:a="http://schemas.openxmlformats.org/drawingml/2006/main" noGrp="1"/>
          </p:cNvSpPr>
          <p:nvPr/>
        </p:nvSpPr>
        <p:spPr>
          <a:xfrm xmlns:a="http://schemas.openxmlformats.org/drawingml/2006/main">
            <a:off x="685800" y="4648200"/>
            <a:ext cx="300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1">
                <a:solidFill>
                  <a:srgbClr val="087E8B"/>
                </a:solidFill>
                <a:latin typeface="Arial"/>
                <a:ea typeface="Arial"/>
                <a:cs typeface="Arial"/>
              </a:defRPr>
            </a:defPPr>
            <a:lvl1pPr>
              <a:defRPr sz="2025" b="1">
                <a:solidFill>
                  <a:srgbClr val="087E8B"/>
                </a:solidFill>
                <a:latin typeface="Arial"/>
                <a:ea typeface="Arial"/>
                <a:cs typeface="Arial"/>
              </a:defRPr>
            </a:lvl1pPr>
            <a:lvl2pPr>
              <a:defRPr sz="2025" b="1">
                <a:solidFill>
                  <a:srgbClr val="087E8B"/>
                </a:solidFill>
                <a:latin typeface="Arial"/>
                <a:ea typeface="Arial"/>
                <a:cs typeface="Arial"/>
              </a:defRPr>
            </a:lvl2pPr>
            <a:lvl3pPr>
              <a:defRPr sz="2025" b="1">
                <a:solidFill>
                  <a:srgbClr val="087E8B"/>
                </a:solidFill>
                <a:latin typeface="Arial"/>
                <a:ea typeface="Arial"/>
                <a:cs typeface="Arial"/>
              </a:defRPr>
            </a:lvl3pPr>
            <a:lvl4pPr>
              <a:defRPr sz="2025" b="1">
                <a:solidFill>
                  <a:srgbClr val="087E8B"/>
                </a:solidFill>
                <a:latin typeface="Arial"/>
                <a:ea typeface="Arial"/>
                <a:cs typeface="Arial"/>
              </a:defRPr>
            </a:lvl4pPr>
            <a:lvl5pPr>
              <a:defRPr sz="2025" b="1">
                <a:solidFill>
                  <a:srgbClr val="087E8B"/>
                </a:solidFill>
                <a:latin typeface="Arial"/>
                <a:ea typeface="Arial"/>
                <a:cs typeface="Arial"/>
              </a:defRPr>
            </a:lvl5pPr>
            <a:lvl6pPr>
              <a:defRPr sz="2025" b="1">
                <a:solidFill>
                  <a:srgbClr val="087E8B"/>
                </a:solidFill>
                <a:latin typeface="Arial"/>
                <a:ea typeface="Arial"/>
                <a:cs typeface="Arial"/>
              </a:defRPr>
            </a:lvl6pPr>
            <a:lvl7pPr>
              <a:defRPr sz="2025" b="1">
                <a:solidFill>
                  <a:srgbClr val="087E8B"/>
                </a:solidFill>
                <a:latin typeface="Arial"/>
                <a:ea typeface="Arial"/>
                <a:cs typeface="Arial"/>
              </a:defRPr>
            </a:lvl7pPr>
            <a:lvl8pPr>
              <a:defRPr sz="2025" b="1">
                <a:solidFill>
                  <a:srgbClr val="087E8B"/>
                </a:solidFill>
                <a:latin typeface="Arial"/>
                <a:ea typeface="Arial"/>
                <a:cs typeface="Arial"/>
              </a:defRPr>
            </a:lvl8pPr>
            <a:lvl9pPr>
              <a:defRPr sz="2025" b="1">
                <a:solidFill>
                  <a:srgbClr val="087E8B"/>
                </a:solidFill>
                <a:latin typeface="Arial"/>
                <a:ea typeface="Arial"/>
                <a:cs typeface="Arial"/>
              </a:defRPr>
            </a:lvl9pPr>
          </a:lstStyle>
          <a:p xmlns:a="http://schemas.openxmlformats.org/drawingml/2006/main">
            <a:pPr>
              <a:defRPr sz="2025" b="1">
                <a:solidFill>
                  <a:srgbClr val="087E8B"/>
                </a:solidFill>
                <a:latin typeface="Arial"/>
                <a:ea typeface="Arial"/>
                <a:cs typeface="Arial"/>
              </a:defRPr>
            </a:pPr>
            <a:r>
              <a:rPr sz="2025" b="1">
                <a:solidFill>
                  <a:srgbClr val="087E8B"/>
                </a:solidFill>
                <a:latin typeface="Arial"/>
                <a:ea typeface="Arial"/>
                <a:cs typeface="Arial"/>
              </a:rPr>
              <a:t>Primeiro acordo</a:t>
            </a:r>
          </a:p>
        </p:txBody>
      </p:sp>
      <p:sp>
        <p:nvSpPr>
          <p:cNvPr id="9" name="">
            <a:extLst xmlns:a="http://schemas.openxmlformats.org/drawingml/2006/main">
              <a:ext uri="{FF2B5EF4-FFF2-40B4-BE49-F238E27FC236}">
                <a16:creationId xmlns:a16="http://schemas.microsoft.com/office/drawing/2014/main" id="{7635F2CF-66E6-45DF-B6DB-E1854C5F4ACA}"/>
              </a:ext>
            </a:extLst>
          </p:cNvPr>
          <p:cNvSpPr>
            <a:spLocks xmlns:a="http://schemas.openxmlformats.org/drawingml/2006/main" noGrp="1"/>
          </p:cNvSpPr>
          <p:nvPr/>
        </p:nvSpPr>
        <p:spPr>
          <a:xfrm xmlns:a="http://schemas.openxmlformats.org/drawingml/2006/main">
            <a:off x="3905250" y="4648200"/>
            <a:ext cx="7543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152C39"/>
                </a:solidFill>
                <a:latin typeface="Arial"/>
                <a:ea typeface="Arial"/>
                <a:cs typeface="Arial"/>
              </a:defRPr>
            </a:defPPr>
            <a:lvl1pPr>
              <a:defRPr sz="2100" b="0">
                <a:solidFill>
                  <a:srgbClr val="152C39"/>
                </a:solidFill>
                <a:latin typeface="Arial"/>
                <a:ea typeface="Arial"/>
                <a:cs typeface="Arial"/>
              </a:defRPr>
            </a:lvl1pPr>
            <a:lvl2pPr>
              <a:defRPr sz="2100" b="0">
                <a:solidFill>
                  <a:srgbClr val="152C39"/>
                </a:solidFill>
                <a:latin typeface="Arial"/>
                <a:ea typeface="Arial"/>
                <a:cs typeface="Arial"/>
              </a:defRPr>
            </a:lvl2pPr>
            <a:lvl3pPr>
              <a:defRPr sz="2100" b="0">
                <a:solidFill>
                  <a:srgbClr val="152C39"/>
                </a:solidFill>
                <a:latin typeface="Arial"/>
                <a:ea typeface="Arial"/>
                <a:cs typeface="Arial"/>
              </a:defRPr>
            </a:lvl3pPr>
            <a:lvl4pPr>
              <a:defRPr sz="2100" b="0">
                <a:solidFill>
                  <a:srgbClr val="152C39"/>
                </a:solidFill>
                <a:latin typeface="Arial"/>
                <a:ea typeface="Arial"/>
                <a:cs typeface="Arial"/>
              </a:defRPr>
            </a:lvl4pPr>
            <a:lvl5pPr>
              <a:defRPr sz="2100" b="0">
                <a:solidFill>
                  <a:srgbClr val="152C39"/>
                </a:solidFill>
                <a:latin typeface="Arial"/>
                <a:ea typeface="Arial"/>
                <a:cs typeface="Arial"/>
              </a:defRPr>
            </a:lvl5pPr>
            <a:lvl6pPr>
              <a:defRPr sz="2100" b="0">
                <a:solidFill>
                  <a:srgbClr val="152C39"/>
                </a:solidFill>
                <a:latin typeface="Arial"/>
                <a:ea typeface="Arial"/>
                <a:cs typeface="Arial"/>
              </a:defRPr>
            </a:lvl6pPr>
            <a:lvl7pPr>
              <a:defRPr sz="2100" b="0">
                <a:solidFill>
                  <a:srgbClr val="152C39"/>
                </a:solidFill>
                <a:latin typeface="Arial"/>
                <a:ea typeface="Arial"/>
                <a:cs typeface="Arial"/>
              </a:defRPr>
            </a:lvl7pPr>
            <a:lvl8pPr>
              <a:defRPr sz="2100" b="0">
                <a:solidFill>
                  <a:srgbClr val="152C39"/>
                </a:solidFill>
                <a:latin typeface="Arial"/>
                <a:ea typeface="Arial"/>
                <a:cs typeface="Arial"/>
              </a:defRPr>
            </a:lvl8pPr>
            <a:lvl9pPr>
              <a:defRPr sz="2100" b="0">
                <a:solidFill>
                  <a:srgbClr val="152C39"/>
                </a:solidFill>
                <a:latin typeface="Arial"/>
                <a:ea typeface="Arial"/>
                <a:cs typeface="Arial"/>
              </a:defRPr>
            </a:lvl9pPr>
          </a:lstStyle>
          <a:p xmlns:a="http://schemas.openxmlformats.org/drawingml/2006/main">
            <a:pPr>
              <a:defRPr sz="2100" b="0">
                <a:solidFill>
                  <a:srgbClr val="152C39"/>
                </a:solidFill>
                <a:latin typeface="Arial"/>
                <a:ea typeface="Arial"/>
                <a:cs typeface="Arial"/>
              </a:defRPr>
            </a:pPr>
            <a:r>
              <a:rPr sz="2100" b="0">
                <a:solidFill>
                  <a:srgbClr val="152C39"/>
                </a:solidFill>
                <a:latin typeface="Arial"/>
                <a:ea typeface="Arial"/>
                <a:cs typeface="Arial"/>
              </a:rPr>
              <a:t>Escolher uma revisão, confirmar responsável e registrar critério de saída.</a:t>
            </a:r>
          </a:p>
        </p:txBody>
      </p:sp>
      <p:sp>
        <p:nvSpPr>
          <p:cNvPr id="10" name="">
            <a:extLst xmlns:a="http://schemas.openxmlformats.org/drawingml/2006/main">
              <a:ext uri="{FF2B5EF4-FFF2-40B4-BE49-F238E27FC236}">
                <a16:creationId xmlns:a16="http://schemas.microsoft.com/office/drawing/2014/main" id="{AC456C05-2C37-44FB-A4FE-DA813FCC26A7}"/>
              </a:ext>
            </a:extLst>
          </p:cNvPr>
          <p:cNvSpPr>
            <a:spLocks xmlns:a="http://schemas.openxmlformats.org/drawingml/2006/main" noGrp="1"/>
          </p:cNvSpPr>
          <p:nvPr/>
        </p:nvSpPr>
        <p:spPr>
          <a:xfrm xmlns:a="http://schemas.openxmlformats.org/drawingml/2006/main">
            <a:off x="685800" y="600075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66F"/>
                </a:solidFill>
                <a:latin typeface="Arial"/>
                <a:ea typeface="Arial"/>
                <a:cs typeface="Arial"/>
              </a:defRPr>
            </a:defPPr>
            <a:lvl1pPr>
              <a:defRPr sz="1500" b="0">
                <a:solidFill>
                  <a:srgbClr val="53666F"/>
                </a:solidFill>
                <a:latin typeface="Arial"/>
                <a:ea typeface="Arial"/>
                <a:cs typeface="Arial"/>
              </a:defRPr>
            </a:lvl1pPr>
            <a:lvl2pPr>
              <a:defRPr sz="1500" b="0">
                <a:solidFill>
                  <a:srgbClr val="53666F"/>
                </a:solidFill>
                <a:latin typeface="Arial"/>
                <a:ea typeface="Arial"/>
                <a:cs typeface="Arial"/>
              </a:defRPr>
            </a:lvl2pPr>
            <a:lvl3pPr>
              <a:defRPr sz="1500" b="0">
                <a:solidFill>
                  <a:srgbClr val="53666F"/>
                </a:solidFill>
                <a:latin typeface="Arial"/>
                <a:ea typeface="Arial"/>
                <a:cs typeface="Arial"/>
              </a:defRPr>
            </a:lvl3pPr>
            <a:lvl4pPr>
              <a:defRPr sz="1500" b="0">
                <a:solidFill>
                  <a:srgbClr val="53666F"/>
                </a:solidFill>
                <a:latin typeface="Arial"/>
                <a:ea typeface="Arial"/>
                <a:cs typeface="Arial"/>
              </a:defRPr>
            </a:lvl4pPr>
            <a:lvl5pPr>
              <a:defRPr sz="1500" b="0">
                <a:solidFill>
                  <a:srgbClr val="53666F"/>
                </a:solidFill>
                <a:latin typeface="Arial"/>
                <a:ea typeface="Arial"/>
                <a:cs typeface="Arial"/>
              </a:defRPr>
            </a:lvl5pPr>
            <a:lvl6pPr>
              <a:defRPr sz="1500" b="0">
                <a:solidFill>
                  <a:srgbClr val="53666F"/>
                </a:solidFill>
                <a:latin typeface="Arial"/>
                <a:ea typeface="Arial"/>
                <a:cs typeface="Arial"/>
              </a:defRPr>
            </a:lvl6pPr>
            <a:lvl7pPr>
              <a:defRPr sz="1500" b="0">
                <a:solidFill>
                  <a:srgbClr val="53666F"/>
                </a:solidFill>
                <a:latin typeface="Arial"/>
                <a:ea typeface="Arial"/>
                <a:cs typeface="Arial"/>
              </a:defRPr>
            </a:lvl7pPr>
            <a:lvl8pPr>
              <a:defRPr sz="1500" b="0">
                <a:solidFill>
                  <a:srgbClr val="53666F"/>
                </a:solidFill>
                <a:latin typeface="Arial"/>
                <a:ea typeface="Arial"/>
                <a:cs typeface="Arial"/>
              </a:defRPr>
            </a:lvl8pPr>
            <a:lvl9pPr>
              <a:defRPr sz="1500" b="0">
                <a:solidFill>
                  <a:srgbClr val="53666F"/>
                </a:solidFill>
                <a:latin typeface="Arial"/>
                <a:ea typeface="Arial"/>
                <a:cs typeface="Arial"/>
              </a:defRPr>
            </a:lvl9pPr>
          </a:lstStyle>
          <a:p xmlns:a="http://schemas.openxmlformats.org/drawingml/2006/main">
            <a:pPr>
              <a:defRPr sz="1500" b="0">
                <a:solidFill>
                  <a:srgbClr val="53666F"/>
                </a:solidFill>
                <a:latin typeface="Arial"/>
                <a:ea typeface="Arial"/>
                <a:cs typeface="Arial"/>
              </a:defRPr>
            </a:pPr>
            <a:r>
              <a:rPr sz="1500" b="0">
                <a:solidFill>
                  <a:srgbClr val="53666F"/>
                </a:solidFill>
                <a:latin typeface="Arial"/>
                <a:ea typeface="Arial"/>
                <a:cs typeface="Arial"/>
              </a:rPr>
              <a:t>Documentação para discussão. Nenhuma nova medição ou aceitação funcional nesta preparação.</a:t>
            </a:r>
          </a:p>
        </p:txBody>
      </p:sp>
      <p:sp>
        <p:nvSpPr>
          <p:cNvPr id="11" name="">
            <a:extLst xmlns:a="http://schemas.openxmlformats.org/drawingml/2006/main">
              <a:ext uri="{FF2B5EF4-FFF2-40B4-BE49-F238E27FC236}">
                <a16:creationId xmlns:a16="http://schemas.microsoft.com/office/drawing/2014/main" id="{2D351883-B4BC-44BF-B811-EA7079803B58}"/>
              </a:ext>
            </a:extLst>
          </p:cNvPr>
          <p:cNvSpPr>
            <a:spLocks xmlns:a="http://schemas.openxmlformats.org/drawingml/2006/main" noGrp="1"/>
          </p:cNvSpPr>
          <p:nvPr/>
        </p:nvSpPr>
        <p:spPr>
          <a:xfrm xmlns:a="http://schemas.openxmlformats.org/drawingml/2006/main">
            <a:off x="685800" y="659130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a:solidFill>
                  <a:srgbClr val="53666F"/>
                </a:solidFill>
                <a:latin typeface="Arial"/>
                <a:ea typeface="Arial"/>
                <a:cs typeface="Arial"/>
                <a:hlinkClick xmlns:r="http://schemas.openxmlformats.org/officeDocument/2006/relationships" r:id="R06fcfed6c5d34c95"/>
              </a:rPr>
              <a:t>APEX #190</a:t>
            </a:r>
          </a:p>
        </p:txBody>
      </p:sp>
      <p:sp>
        <p:nvSpPr>
          <p:cNvPr id="12" name="">
            <a:extLst xmlns:a="http://schemas.openxmlformats.org/drawingml/2006/main">
              <a:ext uri="{FF2B5EF4-FFF2-40B4-BE49-F238E27FC236}">
                <a16:creationId xmlns:a16="http://schemas.microsoft.com/office/drawing/2014/main" id="{90B6D11A-98F5-4EB2-B04D-5048FC7693CC}"/>
              </a:ext>
            </a:extLst>
          </p:cNvPr>
          <p:cNvSpPr>
            <a:spLocks xmlns:a="http://schemas.openxmlformats.org/drawingml/2006/main" noGrp="1"/>
          </p:cNvSpPr>
          <p:nvPr/>
        </p:nvSpPr>
        <p:spPr>
          <a:xfrm xmlns:a="http://schemas.openxmlformats.org/drawingml/2006/main">
            <a:off x="10620375" y="6591300"/>
            <a:ext cx="895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66F"/>
                </a:solidFill>
                <a:latin typeface="Arial"/>
                <a:ea typeface="Arial"/>
                <a:cs typeface="Arial"/>
              </a:defRPr>
            </a:defPPr>
            <a:lvl1pPr>
              <a:defRPr sz="1125" b="0">
                <a:solidFill>
                  <a:srgbClr val="53666F"/>
                </a:solidFill>
                <a:latin typeface="Arial"/>
                <a:ea typeface="Arial"/>
                <a:cs typeface="Arial"/>
              </a:defRPr>
            </a:lvl1pPr>
            <a:lvl2pPr>
              <a:defRPr sz="1125" b="0">
                <a:solidFill>
                  <a:srgbClr val="53666F"/>
                </a:solidFill>
                <a:latin typeface="Arial"/>
                <a:ea typeface="Arial"/>
                <a:cs typeface="Arial"/>
              </a:defRPr>
            </a:lvl2pPr>
            <a:lvl3pPr>
              <a:defRPr sz="1125" b="0">
                <a:solidFill>
                  <a:srgbClr val="53666F"/>
                </a:solidFill>
                <a:latin typeface="Arial"/>
                <a:ea typeface="Arial"/>
                <a:cs typeface="Arial"/>
              </a:defRPr>
            </a:lvl3pPr>
            <a:lvl4pPr>
              <a:defRPr sz="1125" b="0">
                <a:solidFill>
                  <a:srgbClr val="53666F"/>
                </a:solidFill>
                <a:latin typeface="Arial"/>
                <a:ea typeface="Arial"/>
                <a:cs typeface="Arial"/>
              </a:defRPr>
            </a:lvl4pPr>
            <a:lvl5pPr>
              <a:defRPr sz="1125" b="0">
                <a:solidFill>
                  <a:srgbClr val="53666F"/>
                </a:solidFill>
                <a:latin typeface="Arial"/>
                <a:ea typeface="Arial"/>
                <a:cs typeface="Arial"/>
              </a:defRPr>
            </a:lvl5pPr>
            <a:lvl6pPr>
              <a:defRPr sz="1125" b="0">
                <a:solidFill>
                  <a:srgbClr val="53666F"/>
                </a:solidFill>
                <a:latin typeface="Arial"/>
                <a:ea typeface="Arial"/>
                <a:cs typeface="Arial"/>
              </a:defRPr>
            </a:lvl6pPr>
            <a:lvl7pPr>
              <a:defRPr sz="1125" b="0">
                <a:solidFill>
                  <a:srgbClr val="53666F"/>
                </a:solidFill>
                <a:latin typeface="Arial"/>
                <a:ea typeface="Arial"/>
                <a:cs typeface="Arial"/>
              </a:defRPr>
            </a:lvl7pPr>
            <a:lvl8pPr>
              <a:defRPr sz="1125" b="0">
                <a:solidFill>
                  <a:srgbClr val="53666F"/>
                </a:solidFill>
                <a:latin typeface="Arial"/>
                <a:ea typeface="Arial"/>
                <a:cs typeface="Arial"/>
              </a:defRPr>
            </a:lvl8pPr>
            <a:lvl9pPr>
              <a:defRPr sz="1125" b="0">
                <a:solidFill>
                  <a:srgbClr val="53666F"/>
                </a:solidFill>
                <a:latin typeface="Arial"/>
                <a:ea typeface="Arial"/>
                <a:cs typeface="Arial"/>
              </a:defRPr>
            </a:lvl9pPr>
          </a:lstStyle>
          <a:p xmlns:a="http://schemas.openxmlformats.org/drawingml/2006/main">
            <a:pPr>
              <a:defRPr sz="1125" b="0">
                <a:solidFill>
                  <a:srgbClr val="53666F"/>
                </a:solidFill>
                <a:latin typeface="Arial"/>
                <a:ea typeface="Arial"/>
                <a:cs typeface="Arial"/>
              </a:defRPr>
            </a:pPr>
            <a:r>
              <a:rPr sz="1125" b="0">
                <a:solidFill>
                  <a:srgbClr val="53666F"/>
                </a:solidFill>
                <a:latin typeface="Arial"/>
                <a:ea typeface="Arial"/>
                <a:cs typeface="Arial"/>
              </a:rPr>
              <a:t>10 / 10</a:t>
            </a:r>
          </a:p>
        </p:txBody>
      </p:sp>
    </p:spTree>
    <p:extLst>
      <p:ext uri="{BB962C8B-B14F-4D97-AF65-F5344CB8AC3E}">
        <p14:creationId xmlns:p14="http://schemas.microsoft.com/office/powerpoint/2010/main" val="745114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2026-10-20T10:47:45.9100000Z</dcterms:created>
  <dcterms:modified xsi:type="dcterms:W3CDTF">2026-10-20T10:47:45.9100000Z</dcterms:modified>
</coreProperties>
</file>