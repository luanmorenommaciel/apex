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786166e6f24388" /><Relationship Type="http://schemas.openxmlformats.org/officeDocument/2006/relationships/extended-properties" Target="/docProps/app.xml" Id="R9a42879229084f88" /><Relationship Type="http://schemas.openxmlformats.org/officeDocument/2006/relationships/officeDocument" Target="/ppt/presentation.xml" Id="R73d45b6e7b2245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c21c0b054f4aed"/>
  </p:sldMasterIdLst>
  <p:notesMasterIdLst>
    <p:notesMasterId xmlns:r="http://schemas.openxmlformats.org/officeDocument/2006/relationships" r:id="Ra8a545d3b0374cc2"/>
  </p:notesMasterIdLst>
  <p:sldIdLst>
    <p:sldId xmlns:r="http://schemas.openxmlformats.org/officeDocument/2006/relationships" id="256" r:id="R9db9cb08d89e4cef"/>
    <p:sldId xmlns:r="http://schemas.openxmlformats.org/officeDocument/2006/relationships" id="257" r:id="R303f355a417c44fd"/>
    <p:sldId xmlns:r="http://schemas.openxmlformats.org/officeDocument/2006/relationships" id="258" r:id="Re8fa90c9fd534711"/>
    <p:sldId xmlns:r="http://schemas.openxmlformats.org/officeDocument/2006/relationships" id="259" r:id="R8abfe028dbca4088"/>
    <p:sldId xmlns:r="http://schemas.openxmlformats.org/officeDocument/2006/relationships" id="260" r:id="R6378a8e1ab504592"/>
    <p:sldId xmlns:r="http://schemas.openxmlformats.org/officeDocument/2006/relationships" id="261" r:id="R889eb4f4d2204eac"/>
    <p:sldId xmlns:r="http://schemas.openxmlformats.org/officeDocument/2006/relationships" id="262" r:id="Rdb1e5219d9924a32"/>
    <p:sldId xmlns:r="http://schemas.openxmlformats.org/officeDocument/2006/relationships" id="263" r:id="R674609f121974bf3"/>
    <p:sldId xmlns:r="http://schemas.openxmlformats.org/officeDocument/2006/relationships" id="264" r:id="R9c25f938259b499b"/>
    <p:sldId xmlns:r="http://schemas.openxmlformats.org/officeDocument/2006/relationships" id="265" r:id="R3a7389899391400a"/>
    <p:sldId xmlns:r="http://schemas.openxmlformats.org/officeDocument/2006/relationships" id="266" r:id="R3918ee4dbe5f472a"/>
    <p:sldId xmlns:r="http://schemas.openxmlformats.org/officeDocument/2006/relationships" id="267" r:id="Rbbcd69bd1f3b4154"/>
    <p:sldId xmlns:r="http://schemas.openxmlformats.org/officeDocument/2006/relationships" id="268" r:id="R01d1a28590014c3e"/>
    <p:sldId xmlns:r="http://schemas.openxmlformats.org/officeDocument/2006/relationships" id="269" r:id="Rf7dc9ef148c743ce"/>
    <p:sldId xmlns:r="http://schemas.openxmlformats.org/officeDocument/2006/relationships" id="270" r:id="R554ced9f6a614ad2"/>
    <p:sldId xmlns:r="http://schemas.openxmlformats.org/officeDocument/2006/relationships" id="271" r:id="R762531a006914c78"/>
    <p:sldId xmlns:r="http://schemas.openxmlformats.org/officeDocument/2006/relationships" id="272" r:id="R329ac91b0495450b"/>
    <p:sldId xmlns:r="http://schemas.openxmlformats.org/officeDocument/2006/relationships" id="273" r:id="Rea5a5b5881b44752"/>
    <p:sldId xmlns:r="http://schemas.openxmlformats.org/officeDocument/2006/relationships" id="274" r:id="R124f5274cc454141"/>
    <p:sldId xmlns:r="http://schemas.openxmlformats.org/officeDocument/2006/relationships" id="275" r:id="Re417a4572fc14b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07051f6aa74e17" /><Relationship Type="http://schemas.openxmlformats.org/officeDocument/2006/relationships/slideMaster" Target="/ppt/slideMasters/slideMaster1.xml" Id="Re6c21c0b054f4aed" /><Relationship Type="http://schemas.openxmlformats.org/officeDocument/2006/relationships/notesMaster" Target="/ppt/notesMasters/notesMaster1.xml" Id="Ra8a545d3b0374cc2" /><Relationship Type="http://schemas.openxmlformats.org/officeDocument/2006/relationships/presProps" Target="/ppt/presProps.xml" Id="Rb0f4f9fa2b744033" /><Relationship Type="http://schemas.openxmlformats.org/officeDocument/2006/relationships/tableStyles" Target="/ppt/tableStyles.xml" Id="R55b6bfd580e44e1f" /><Relationship Type="http://schemas.openxmlformats.org/officeDocument/2006/relationships/slide" Target="/ppt/slides/slide1.xml" Id="R9db9cb08d89e4cef" /><Relationship Type="http://schemas.openxmlformats.org/officeDocument/2006/relationships/slide" Target="/ppt/slides/slide2.xml" Id="R303f355a417c44fd" /><Relationship Type="http://schemas.openxmlformats.org/officeDocument/2006/relationships/slide" Target="/ppt/slides/slide3.xml" Id="Re8fa90c9fd534711" /><Relationship Type="http://schemas.openxmlformats.org/officeDocument/2006/relationships/slide" Target="/ppt/slides/slide4.xml" Id="R8abfe028dbca4088" /><Relationship Type="http://schemas.openxmlformats.org/officeDocument/2006/relationships/slide" Target="/ppt/slides/slide5.xml" Id="R6378a8e1ab504592" /><Relationship Type="http://schemas.openxmlformats.org/officeDocument/2006/relationships/slide" Target="/ppt/slides/slide6.xml" Id="R889eb4f4d2204eac" /><Relationship Type="http://schemas.openxmlformats.org/officeDocument/2006/relationships/slide" Target="/ppt/slides/slide7.xml" Id="Rdb1e5219d9924a32" /><Relationship Type="http://schemas.openxmlformats.org/officeDocument/2006/relationships/slide" Target="/ppt/slides/slide8.xml" Id="R674609f121974bf3" /><Relationship Type="http://schemas.openxmlformats.org/officeDocument/2006/relationships/slide" Target="/ppt/slides/slide9.xml" Id="R9c25f938259b499b" /><Relationship Type="http://schemas.openxmlformats.org/officeDocument/2006/relationships/slide" Target="/ppt/slides/slide10.xml" Id="R3a7389899391400a" /><Relationship Type="http://schemas.openxmlformats.org/officeDocument/2006/relationships/slide" Target="/ppt/slides/slide11.xml" Id="R3918ee4dbe5f472a" /><Relationship Type="http://schemas.openxmlformats.org/officeDocument/2006/relationships/slide" Target="/ppt/slides/slide12.xml" Id="Rbbcd69bd1f3b4154" /><Relationship Type="http://schemas.openxmlformats.org/officeDocument/2006/relationships/slide" Target="/ppt/slides/slide13.xml" Id="R01d1a28590014c3e" /><Relationship Type="http://schemas.openxmlformats.org/officeDocument/2006/relationships/slide" Target="/ppt/slides/slide14.xml" Id="Rf7dc9ef148c743ce" /><Relationship Type="http://schemas.openxmlformats.org/officeDocument/2006/relationships/slide" Target="/ppt/slides/slide15.xml" Id="R554ced9f6a614ad2" /><Relationship Type="http://schemas.openxmlformats.org/officeDocument/2006/relationships/slide" Target="/ppt/slides/slide16.xml" Id="R762531a006914c78" /><Relationship Type="http://schemas.openxmlformats.org/officeDocument/2006/relationships/slide" Target="/ppt/slides/slide17.xml" Id="R329ac91b0495450b" /><Relationship Type="http://schemas.openxmlformats.org/officeDocument/2006/relationships/slide" Target="/ppt/slides/slide18.xml" Id="Rea5a5b5881b44752" /><Relationship Type="http://schemas.openxmlformats.org/officeDocument/2006/relationships/slide" Target="/ppt/slides/slide19.xml" Id="R124f5274cc454141" /><Relationship Type="http://schemas.openxmlformats.org/officeDocument/2006/relationships/slide" Target="/ppt/slides/slide20.xml" Id="Re417a4572fc14b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7bac5f73b846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219b7854644abe" /><Relationship Type="http://schemas.openxmlformats.org/officeDocument/2006/relationships/notesMaster" Target="/ppt/notesMasters/notesMaster1.xml" Id="Rc103088ef4f749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bf29e57ab7451c" /><Relationship Type="http://schemas.openxmlformats.org/officeDocument/2006/relationships/notesMaster" Target="/ppt/notesMasters/notesMaster1.xml" Id="Rf8584bdbab7144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72b55586784077" /><Relationship Type="http://schemas.openxmlformats.org/officeDocument/2006/relationships/notesMaster" Target="/ppt/notesMasters/notesMaster1.xml" Id="Ra7cccb1598564d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6e8c792cda4dc3" /><Relationship Type="http://schemas.openxmlformats.org/officeDocument/2006/relationships/notesMaster" Target="/ppt/notesMasters/notesMaster1.xml" Id="Rf2a21af650174c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f5cef3d0874234" /><Relationship Type="http://schemas.openxmlformats.org/officeDocument/2006/relationships/notesMaster" Target="/ppt/notesMasters/notesMaster1.xml" Id="R710803b67f3246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4f4d9a4afe4469" /><Relationship Type="http://schemas.openxmlformats.org/officeDocument/2006/relationships/notesMaster" Target="/ppt/notesMasters/notesMaster1.xml" Id="Rc073faea726043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a35a61278a47f8" /><Relationship Type="http://schemas.openxmlformats.org/officeDocument/2006/relationships/notesMaster" Target="/ppt/notesMasters/notesMaster1.xml" Id="Raf67277e891c46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c6e3fd15c04a5f" /><Relationship Type="http://schemas.openxmlformats.org/officeDocument/2006/relationships/notesMaster" Target="/ppt/notesMasters/notesMaster1.xml" Id="R50ce1d47bc0d44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4b17f1d00a4f16" /><Relationship Type="http://schemas.openxmlformats.org/officeDocument/2006/relationships/notesMaster" Target="/ppt/notesMasters/notesMaster1.xml" Id="Rd9ffaaa6759c4e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e250202bfa45bf" /><Relationship Type="http://schemas.openxmlformats.org/officeDocument/2006/relationships/notesMaster" Target="/ppt/notesMasters/notesMaster1.xml" Id="R299d8a8d99fb4d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f6f73be6124f7d" /><Relationship Type="http://schemas.openxmlformats.org/officeDocument/2006/relationships/notesMaster" Target="/ppt/notesMasters/notesMaster1.xml" Id="R82ff4c7277ae46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c811193d2a34379" /><Relationship Type="http://schemas.openxmlformats.org/officeDocument/2006/relationships/notesMaster" Target="/ppt/notesMasters/notesMaster1.xml" Id="R72f0670fcfd9495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352ad09b71b45ed" /><Relationship Type="http://schemas.openxmlformats.org/officeDocument/2006/relationships/notesMaster" Target="/ppt/notesMasters/notesMaster1.xml" Id="Rdc5f57654e3644d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fa96a0b28514407" /><Relationship Type="http://schemas.openxmlformats.org/officeDocument/2006/relationships/notesMaster" Target="/ppt/notesMasters/notesMaster1.xml" Id="R3fa4b4375155421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df3989b89fc47a4" /><Relationship Type="http://schemas.openxmlformats.org/officeDocument/2006/relationships/notesMaster" Target="/ppt/notesMasters/notesMaster1.xml" Id="R8566c7c493134cd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5aafab869554462" /><Relationship Type="http://schemas.openxmlformats.org/officeDocument/2006/relationships/notesMaster" Target="/ppt/notesMasters/notesMaster1.xml" Id="R186d7b459ee4408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79aaf9484aa49a1" /><Relationship Type="http://schemas.openxmlformats.org/officeDocument/2006/relationships/notesMaster" Target="/ppt/notesMasters/notesMaster1.xml" Id="R658c23c59ba144e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1ba16b0e3fc469f" /><Relationship Type="http://schemas.openxmlformats.org/officeDocument/2006/relationships/notesMaster" Target="/ppt/notesMasters/notesMaster1.xml" Id="Rf5a30300108f45e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22e364805474da5" /><Relationship Type="http://schemas.openxmlformats.org/officeDocument/2006/relationships/notesMaster" Target="/ppt/notesMasters/notesMaster1.xml" Id="Rca6ad5592f21419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d9517cd1bca4978" /><Relationship Type="http://schemas.openxmlformats.org/officeDocument/2006/relationships/notesMaster" Target="/ppt/notesMasters/notesMaster1.xml" Id="Rf55a78f6b05546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é minha leitura para contribuir com o planejamento do time. Autoria da base compartilhada e limites das provas permanecem explícitos. O corte documental foi reconferido em 20/10/2026, com main c3c3ea3. Não representa liberação de release nem decisão oficial do pod.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documental: 20/10/2026. Main c3c3ea3.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https://github.com/luanmorenommaciel/apex/issues/181</a:t>
            </a:r>
          </a:p>
          <a:p xmlns:a="http://schemas.openxmlformats.org/drawingml/2006/main">
            <a:r>
              <a:t>https://github.com/luanmorenommaciel/apex/blob/faf8b5723abd7cd0905137e574d515216f74d287/docs/reviews/pr-revalidation-20261019/README.md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leitura mantém quatro estados visíveis: integrado, aberto para revisão, evidência registrada e proposta. Uma issue aberta não comprova implementação. Um merge de documentação pode registrar uma proposta, como no ADR-004, sem ratificar todas as decisões. O material inclui uma leitura curta, fichas e anexos para não precisarmos percorrer os quase 50 mil caracteres da issue durante a reunião.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documental: 20/10/2026. Main c3c3ea3.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https://github.com/luanmorenommaciel/apex/issues/181</a:t>
            </a:r>
          </a:p>
          <a:p xmlns:a="http://schemas.openxmlformats.org/drawingml/2006/main">
            <a:r>
              <a:t>https://github.com/luanmorenommaciel/apex/blob/15ab9dc2b587cb187a0413843761db3ec256da4e/docs/reviews/pod3-20261019/README.md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Serve já tem uma base construída em conjunto. Minha #44 integrou o primeiro esqueleto MCP somente leitura. A evolução posterior inclui o servidor do Luan e as entregas L1, L2, L3, L5 e L6 do Sidymar. Na API #129, reconheço a autoria principal do Sidymar. Antes do meu commit, ele também fez as quatro correções c71c2e4. Em fab6620, concluí ajustes de integração nas projeções, no database configurado, no timestamp e na ordenação dos findings e no acesso do Front à API. As 11 PRs do recorte estão listadas no apoio, sem somar fab6620 como uma PR própria. O corpo final de fab6620 relata 289 testes Serve e 130 Front. Os 275 Serve pertencem ao corte intermediário. Manter as correções de Sidymar c71c2e4 explícitas.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documental: 20/10/2026. Main c3c3ea3.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https://github.com/luanmorenommaciel/apex/pull/44</a:t>
            </a:r>
          </a:p>
          <a:p xmlns:a="http://schemas.openxmlformats.org/drawingml/2006/main">
            <a:r>
              <a:t>https://github.com/luanmorenommaciel/apex/pull/129</a:t>
            </a:r>
          </a:p>
          <a:p xmlns:a="http://schemas.openxmlformats.org/drawingml/2006/main">
            <a:r>
              <a:t>https://github.com/luanmorenommaciel/apex/commit/fab662080da499df5d2d4b563ad68be7ddc4cc9f</a:t>
            </a:r>
          </a:p>
          <a:p xmlns:a="http://schemas.openxmlformats.org/drawingml/2006/main">
            <a:r>
              <a:t>https://github.com/luanmorenommaciel/apex/issues/181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MCP e HTTP são duas superfícies de consumo que reutilizam a camada diagnóstica do Serve. As oito tools são analyze_run, compare_runs, explain_stage, list_runs, recall_similar_runs, search_kb, suggest_fix e verify_fix. Há evidência histórica de transporte real na #156. O caminho do navegador envolve imagem, nginx e renderização, por isso não podemos transferir automaticamente uma prova da API para a experiência visual da Console. A futura fachada Ask é uma decisão própria. A proposta API-only da #182 ainda está fora da main consultada. O E2E histórico até o App já existe e a #182 relata provas locais. A ação #172 começa por reaproveitá-las, incluindo o relato adicional de nginx.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documental: 20/10/2026. Main c3c3ea3.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https://github.com/luanmorenommaciel/apex/pull/129</a:t>
            </a:r>
          </a:p>
          <a:p xmlns:a="http://schemas.openxmlformats.org/drawingml/2006/main">
            <a:r>
              <a:t>https://github.com/luanmorenommaciel/apex/issues/156</a:t>
            </a:r>
          </a:p>
          <a:p xmlns:a="http://schemas.openxmlformats.org/drawingml/2006/main">
            <a:r>
              <a:t>https://github.com/luanmorenommaciel/apex/issues/172</a:t>
            </a:r>
          </a:p>
          <a:p xmlns:a="http://schemas.openxmlformats.org/drawingml/2006/main">
            <a:r>
              <a:t>https://github.com/luanmorenommaciel/apex/blob/15ab9dc2b587cb187a0413843761db3ec256da4e/docs/reviews/pod3-20261019/MATRIZ-EVIDENCIAS-SERVE.md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Respondendo à primeira pergunta do Antony: #157 publica testes e não muda código de produção. Compara MCP call_tool em processo com HTTP TestClient. Um segundo arquivo compara store populado e vazio com os mesmos argumentos somente no MCP. #163 adiciona três casos positivos com plan_json e usa helpers da #157. Devemos combinar a forma de integração da pilha e conferir a árvore resultante. #158 fixa desempate de findings por confidence_score DESC e finding_id ASC. #159 melhora o gate e a limpeza inclusive de linhas derivadas, mas escreve no store em modo padrão. #164 é documental e a ausência de checks precisa ser lida com os filtros de paths. Os números de CI pertencem a 09/10 e aos heads individuais. Revisores e prazos continuam a combinar. A #157 compara payloads sem normalização de campos. A #159 tem relato F1c de 79 focados/572 combinados/G1 19 PASS posterior ao checkpoint histórico de 519 testes. Não confundir os cortes.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documental: 20/10/2026. Main c3c3ea3.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https://github.com/luanmorenommaciel/apex/pull/157</a:t>
            </a:r>
          </a:p>
          <a:p xmlns:a="http://schemas.openxmlformats.org/drawingml/2006/main">
            <a:r>
              <a:t>https://github.com/luanmorenommaciel/apex/pull/158</a:t>
            </a:r>
          </a:p>
          <a:p xmlns:a="http://schemas.openxmlformats.org/drawingml/2006/main">
            <a:r>
              <a:t>https://github.com/luanmorenommaciel/apex/pull/159</a:t>
            </a:r>
          </a:p>
          <a:p xmlns:a="http://schemas.openxmlformats.org/drawingml/2006/main">
            <a:r>
              <a:t>https://github.com/luanmorenommaciel/apex/pull/163</a:t>
            </a:r>
          </a:p>
          <a:p xmlns:a="http://schemas.openxmlformats.org/drawingml/2006/main">
            <a:r>
              <a:t>https://github.com/luanmorenommaciel/apex/pull/164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#182 relata Front 202/8 skip e Serve 456. Commit 222498cf registra imagem em fixtures. O Discord acrescenta E2E via nginx, cuja árvore e recibo precisam de reconciliação com #172. Não negar a prova existente nem conceder garantia de navegador apenas por associação.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documental: 20/10/2026. Main c3c3ea3.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https://github.com/luanmorenommaciel/apex/issues/156</a:t>
            </a:r>
          </a:p>
          <a:p xmlns:a="http://schemas.openxmlformats.org/drawingml/2006/main">
            <a:r>
              <a:t>https://github.com/luanmorenommaciel/apex/pull/153</a:t>
            </a:r>
          </a:p>
          <a:p xmlns:a="http://schemas.openxmlformats.org/drawingml/2006/main">
            <a:r>
              <a:t>https://github.com/luanmorenommaciel/apex/pull/159</a:t>
            </a:r>
          </a:p>
          <a:p xmlns:a="http://schemas.openxmlformats.org/drawingml/2006/main">
            <a:r>
              <a:t>https://github.com/luanmorenommaciel/apex/pull/182</a:t>
            </a:r>
          </a:p>
          <a:p xmlns:a="http://schemas.openxmlformats.org/drawingml/2006/main">
            <a:r>
              <a:t>https://github.com/luanmorenommaciel/apex/issues/172</a:t>
            </a:r>
          </a:p>
          <a:p xmlns:a="http://schemas.openxmlformats.org/drawingml/2006/main">
            <a:r>
              <a:t>https://github.com/luanmorenommaciel/apex/blob/faf8b5723abd7cd0905137e574d515216f74d287/docs/reviews/pr-revalidation-20261019/README.md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API #129 nos dá uma base concreta. A questão pendente é como o consumidor Ask será atendido e qual fronteira de confiança o perfil compartilhado exige. Adaptação da API e fachada interna não precisam ser alternativas mutuamente exclusivas. O comparativo deve começar mapeando os cinco intents propostos aos serviços existentes. Precisamos decidir identidade, autenticação, compatibilidade, comportamento de erro, Origin/CSRF quando aplicável, readiness e concorrência. A #171 tem registro próprio para schema/token da v1 e pode avançar em paralelo, mantendo coerência com a #122. Se houver proceed, proponho fatiar contrato, adaptador Serve e integração Front, com aceite específico por entrega. Adiar ou rejeitar com motivo também são resultados válidos.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documental: 20/10/2026. Main c3c3ea3.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https://github.com/luanmorenommaciel/apex/issues/122</a:t>
            </a:r>
          </a:p>
          <a:p xmlns:a="http://schemas.openxmlformats.org/drawingml/2006/main">
            <a:r>
              <a:t>https://github.com/luanmorenommaciel/apex/issues/171</a:t>
            </a:r>
          </a:p>
          <a:p xmlns:a="http://schemas.openxmlformats.org/drawingml/2006/main">
            <a:r>
              <a:t>https://github.com/luanmorenommaciel/apex/blob/15ab9dc2b587cb187a0413843761db3ec256da4e/docs/reviews/pod3-20261019/DECISAO-ASK-122.md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#79 trouxe 23 specs. O registro declara duas done/accepted e 21 ready, mas o código evoluiu desde agosto. As duas aceitas são serverstatus-model e store-health-query. ServerStatus e store_health existem e health utiliza a leitura, enquanto apex_status não está registrada como tool. Cada uma das 23 linhas da matriz separa estado declarado, implementação observada, evidência, limite e destino proposto. Não estamos reexecutando as duas aceitas nem marcando as outras em lote. As seis famílias organizam a discussão das 21 ready. O grupo de sete apex_status não deve impor dependência artificial sobre documentação, configuração ou revisão das PRs atuais. A reconciliação deve aproveitar a #164 para o ajuste de READMEs que já está proposto, evitando tarefa duplicada.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documental: 20/10/2026. Main c3c3ea3.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https://github.com/luanmorenommaciel/apex/pull/79</a:t>
            </a:r>
          </a:p>
          <a:p xmlns:a="http://schemas.openxmlformats.org/drawingml/2006/main">
            <a:r>
              <a:t>https://github.com/luanmorenommaciel/apex/blob/15ab9dc2b587cb187a0413843761db3ec256da4e/docs/reviews/pod3-20261019/MATRIZ-L1-23.md</a:t>
            </a:r>
          </a:p>
          <a:p xmlns:a="http://schemas.openxmlformats.org/drawingml/2006/main">
            <a:r>
              <a:t>https://github.com/luanmorenommaciel/apex/blob/15ab9dc2b587cb187a0413843761db3ec256da4e/docs/reviews/pod3-20261019/GOVERNANCA-TASK-SPECS.md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parte é minha visão de oportunidades, para o time complementar e priorizar. O estudo do grafo pode avançar em paralelo à decisão de adoção/schema, mas a implementação espera essa fronteira. Compare entre versões deve preservar diferenças do Engine e findings de nível de job. Recall com configuração desconhecida é uma hipótese estática com caso discriminante próprio, sem incidente de runtime demonstrado. O backlog também inclui normalização de timestamps, limpeza após falha e oráculo de custo vinculado ao job selecionado. Os anexos preservam 16 minutas e apontam os trackers existentes para evitar abrir duplicatas. O objetivo é escolher poucas próximas entregas, não converter toda ideia em requisito de merge.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documental: 20/10/2026. Main c3c3ea3.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https://github.com/luanmorenommaciel/apex/issues/106</a:t>
            </a:r>
          </a:p>
          <a:p xmlns:a="http://schemas.openxmlformats.org/drawingml/2006/main">
            <a:r>
              <a:t>https://github.com/luanmorenommaciel/apex/issues/107</a:t>
            </a:r>
          </a:p>
          <a:p xmlns:a="http://schemas.openxmlformats.org/drawingml/2006/main">
            <a:r>
              <a:t>https://github.com/luanmorenommaciel/apex/issues/117</a:t>
            </a:r>
          </a:p>
          <a:p xmlns:a="http://schemas.openxmlformats.org/drawingml/2006/main">
            <a:r>
              <a:t>https://github.com/luanmorenommaciel/apex/issues/177</a:t>
            </a:r>
          </a:p>
          <a:p xmlns:a="http://schemas.openxmlformats.org/drawingml/2006/main">
            <a:r>
              <a:t>https://github.com/luanmorenommaciel/apex/blob/15ab9dc2b587cb187a0413843761db3ec256da4e/docs/reviews/pod3-20261019/DESTINOS-MINUTAS.md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revalidação considerou corpo, 59 mensagens de commits e 65 patches da #182. Confirmou dois pontos de adaptação na combinação, sem executar branches nem comprovar conflito textual. O trabalho é do Agmar. Checks verdes por head não aceitam automaticamente a combinação.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documental: 20/10/2026. Main c3c3ea3.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https://github.com/luanmorenommaciel/apex/pull/182</a:t>
            </a:r>
          </a:p>
          <a:p xmlns:a="http://schemas.openxmlformats.org/drawingml/2006/main">
            <a:r>
              <a:t>https://github.com/luanmorenommaciel/apex/pull/158</a:t>
            </a:r>
          </a:p>
          <a:p xmlns:a="http://schemas.openxmlformats.org/drawingml/2006/main">
            <a:r>
              <a:t>https://github.com/luanmorenommaciel/apex/pull/159</a:t>
            </a:r>
          </a:p>
          <a:p xmlns:a="http://schemas.openxmlformats.org/drawingml/2006/main">
            <a:r>
              <a:t>https://github.com/luanmorenommaciel/apex/blob/15ab9dc2b587cb187a0413843761db3ec256da4e/docs/reviews/pod3-20261019/COORDENACAO-PR-182.md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conferência reconsiderou os 38 patches e fontes de wrapper/sbt. EnvFile é explícito em PowerShell, com diferenças em Bash e StartDev que precisam ser comparadas pelo critério real. Não atribuir esse trabalho a Augusto nem inferir ausência de evidência do autor.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documental: 20/10/2026. Main c3c3ea3.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https://github.com/luanmorenommaciel/apex/pull/185</a:t>
            </a:r>
          </a:p>
          <a:p xmlns:a="http://schemas.openxmlformats.org/drawingml/2006/main">
            <a:r>
              <a:t>https://github.com/luanmorenommaciel/apex/issues/167</a:t>
            </a:r>
          </a:p>
          <a:p xmlns:a="http://schemas.openxmlformats.org/drawingml/2006/main">
            <a:r>
              <a:t>https://github.com/luanmorenommaciel/apex/issues/174</a:t>
            </a:r>
          </a:p>
          <a:p xmlns:a="http://schemas.openxmlformats.org/drawingml/2006/main">
            <a:r>
              <a:t>https://github.com/luanmorenommaciel/apex/issues/178</a:t>
            </a:r>
          </a:p>
          <a:p xmlns:a="http://schemas.openxmlformats.org/drawingml/2006/main">
            <a:r>
              <a:t>https://github.com/luanmorenommaciel/apex/blob/faf8b5723abd7cd0905137e574d515216f74d287/docs/reviews/pr-revalidation-20261019/README.md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ADR-004 distingue correlação de código-fonte da atribuição execution_id para stages da #115. As cinco precondições são: possibilidade de locator relativo em repouso; configuração opt-in, raiz e sintaxe; identidade de notebook e fallback; payload e compatibilidade; primeiro consumidor. A N09 propõe separar status declarado, implementação e aceite registrado, preservando o histórico. Seis specs done/accepted:false foram conferidas no snapshot e precisam de reconciliação própria, sem aceite inventado. A #184 corrige cinco valores em três YAML por representação com blocos dobrados, sem executar comandos. Nenhuma dessas decisões cria um bloqueio geral para as PRs de testes atuais.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documental: 20/10/2026. Main c3c3ea3.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https://github.com/luanmorenommaciel/apex/pull/133</a:t>
            </a:r>
          </a:p>
          <a:p xmlns:a="http://schemas.openxmlformats.org/drawingml/2006/main">
            <a:r>
              <a:t>https://github.com/luanmorenommaciel/apex/pull/184</a:t>
            </a:r>
          </a:p>
          <a:p xmlns:a="http://schemas.openxmlformats.org/drawingml/2006/main">
            <a:r>
              <a:t>https://github.com/luanmorenommaciel/apex/issues/115</a:t>
            </a:r>
          </a:p>
          <a:p xmlns:a="http://schemas.openxmlformats.org/drawingml/2006/main">
            <a:r>
              <a:t>https://github.com/luanmorenommaciel/apex/blob/15ab9dc2b587cb187a0413843761db3ec256da4e/docs/reviews/pod3-20261019/DECISAO-ADR-004.md</a:t>
            </a:r>
          </a:p>
          <a:p xmlns:a="http://schemas.openxmlformats.org/drawingml/2006/main">
            <a:r>
              <a:t>https://github.com/luanmorenommaciel/apex/blob/15ab9dc2b587cb187a0413843761db3ec256da4e/docs/reviews/pod3-20261019/GOVERNANCA-TASK-SPECS.md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orientação antiga de copiar um mesmo JSON para todos os clientes precisa de precisão. Claude Code, Cursor e Codex têm caminhos e formatos diferentes. O guia local cobre o MCP stdio existente e não depende de aprovar Ask ou N11. Possui pré-requisitos, exemplos sem segredo, verificações e troubleshooting. A redação e o parse dos exemplos não comprovam o setup no aplicativo. Na distribuição, separamos o build e instalação do wheel das ações externas em TestPyPI e PyPI. O nome, canal, conteúdo MCP/API, versão e responsável de release aguardam decisão. O 404 histórico de um nome não reserva esse nome nem prova que nunca houve publicação.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documental: 20/10/2026. Main c3c3ea3.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https://github.com/luanmorenommaciel/apex/blob/15ab9dc2b587cb187a0413843761db3ec256da4e/docs/reviews/pod3-20261019/GUIA-CLIENTES-SERVE.md</a:t>
            </a:r>
          </a:p>
          <a:p xmlns:a="http://schemas.openxmlformats.org/drawingml/2006/main">
            <a:r>
              <a:t>https://github.com/luanmorenommaciel/apex/blob/15ab9dc2b587cb187a0413843761db3ec256da4e/docs/reviews/pod3-20261019/DECISAO-DISTRIBUICAO.md</a:t>
            </a:r>
          </a:p>
          <a:p xmlns:a="http://schemas.openxmlformats.org/drawingml/2006/main">
            <a:r>
              <a:t>https://code.claude.com/docs/en/mcp</a:t>
            </a:r>
          </a:p>
          <a:p xmlns:a="http://schemas.openxmlformats.org/drawingml/2006/main">
            <a:r>
              <a:t>https://cursor.com/docs/mcp</a:t>
            </a:r>
          </a:p>
          <a:p xmlns:a="http://schemas.openxmlformats.org/drawingml/2006/main">
            <a:r>
              <a:t>https://learn.chatgpt.com/docs/extend/mcp?surface=cli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pacote já está acessível antes do merge. A #183 preserva o detalhamento das 23 tarefas e os textos integrais das sete minutas que faltavam no primeiro anexo. As outras nove já estavam na #181. A #184 permanece pequena para revisar só a sintaxe. A ata é um modelo, sem reunião ou decisão inventada. Esta apresentação mantém a #181 como referência da minha contribuição, e o time pode complementar ou corrigir o material. O estudo dos 525 IDs está documentado na #186 e recebeu correções de 17 fichas na revalidação. Isso não equivale a 525 aceites funcionais ou liberação de release. Pacote #183 corrigido com 34 arquivos conferidos. A #184 continua uma correção sintática de três YAML, sem alterar estado ou aceite das specs.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documental: 20/10/2026. Main c3c3ea3.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https://github.com/luanmorenommaciel/apex/issues/181</a:t>
            </a:r>
          </a:p>
          <a:p xmlns:a="http://schemas.openxmlformats.org/drawingml/2006/main">
            <a:r>
              <a:t>https://github.com/luanmorenommaciel/apex/pull/183</a:t>
            </a:r>
          </a:p>
          <a:p xmlns:a="http://schemas.openxmlformats.org/drawingml/2006/main">
            <a:r>
              <a:t>https://github.com/luanmorenommaciel/apex/pull/184</a:t>
            </a:r>
          </a:p>
          <a:p xmlns:a="http://schemas.openxmlformats.org/drawingml/2006/main">
            <a:r>
              <a:t>https://github.com/luanmorenommaciel/apex/blob/15ab9dc2b587cb187a0413843761db3ec256da4e/docs/reviews/pod3-20261019/CONTROLE-EXECUCAO-POD3.md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Quero encerrar com próximos passos claros e pequenos, preservando os critérios de cada objeto. Podemos combinar revisores e método de integração sem esperar decidir todas as ideias de futuro. As perguntas de arquitetura ficam em seus trackers específicos. Quando faltar informação, registramos a dúvida e um encaminhamento de retomada. Responsáveis e datas devem refletir o que as pessoas realmente combinarem. A sugestão é manter bloqueios técnicos, decisões pendentes e opiniões identificados, e usar o material como apoio ao trabalho do time. Perguntar se há entregas, evidências ou restrições que precisam entrar ou ser corrigidas.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documental: 20/10/2026. Main c3c3ea3.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https://github.com/luanmorenommaciel/apex/blob/15ab9dc2b587cb187a0413843761db3ec256da4e/docs/reviews/pod3-20261019/ATA-POD3-MODELO.md</a:t>
            </a:r>
          </a:p>
          <a:p xmlns:a="http://schemas.openxmlformats.org/drawingml/2006/main">
            <a:r>
              <a:t>https://github.com/luanmorenommaciel/apex/issues/181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apoio explica a contagem de 11 PRs: 1 mais 3 mais 2 mais 3 mais 2. As fronteiras com Front, Verify e contrato entram quando afetam o consumo do Serve. Não é um inventário de todas as contribuições de cada colega. A #133 é uma proposta documental e precisa continuar com esse rótulo. As #53 e #54 foram fechadas sem merge e não entram nessa contagem. A #129 é da autoria de PR e implementação principal do Sidymar, com o commit fab6620 de Augusto.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documental: 20/10/2026. Main c3c3ea3.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https://github.com/luanmorenommaciel/apex/issues/181</a:t>
            </a:r>
          </a:p>
          <a:p xmlns:a="http://schemas.openxmlformats.org/drawingml/2006/main">
            <a:r>
              <a:t>https://github.com/luanmorenommaciel/apex/pull/44</a:t>
            </a:r>
          </a:p>
          <a:p xmlns:a="http://schemas.openxmlformats.org/drawingml/2006/main">
            <a:r>
              <a:t>https://github.com/luanmorenommaciel/apex/pull/132</a:t>
            </a:r>
          </a:p>
          <a:p xmlns:a="http://schemas.openxmlformats.org/drawingml/2006/main">
            <a:r>
              <a:t>https://github.com/luanmorenommaciel/apex/pull/133</a:t>
            </a:r>
          </a:p>
          <a:p xmlns:a="http://schemas.openxmlformats.org/drawingml/2006/main">
            <a:r>
              <a:t>https://github.com/luanmorenommaciel/apex/pull/134</a:t>
            </a:r>
          </a:p>
          <a:p xmlns:a="http://schemas.openxmlformats.org/drawingml/2006/main">
            <a:r>
              <a:t>https://github.com/luanmorenommaciel/apex/pull/135</a:t>
            </a:r>
          </a:p>
          <a:p xmlns:a="http://schemas.openxmlformats.org/drawingml/2006/main">
            <a:r>
              <a:t>https://github.com/luanmorenommaciel/apex/pull/140</a:t>
            </a:r>
          </a:p>
          <a:p xmlns:a="http://schemas.openxmlformats.org/drawingml/2006/main">
            <a:r>
              <a:t>https://github.com/luanmorenommaciel/apex/pull/143</a:t>
            </a:r>
          </a:p>
          <a:p xmlns:a="http://schemas.openxmlformats.org/drawingml/2006/main">
            <a:r>
              <a:t>https://github.com/luanmorenommaciel/apex/pull/144</a:t>
            </a:r>
          </a:p>
          <a:p xmlns:a="http://schemas.openxmlformats.org/drawingml/2006/main">
            <a:r>
              <a:t>https://github.com/luanmorenommaciel/apex/pull/146</a:t>
            </a:r>
          </a:p>
          <a:p xmlns:a="http://schemas.openxmlformats.org/drawingml/2006/main">
            <a:r>
              <a:t>https://github.com/luanmorenommaciel/apex/pull/150</a:t>
            </a:r>
          </a:p>
          <a:p xmlns:a="http://schemas.openxmlformats.org/drawingml/2006/main">
            <a:r>
              <a:t>https://github.com/luanmorenommaciel/apex/pull/151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 16 minutas foram preparadas para preservar ideias com problema, evidência, limite e critério. Esta primeira metade inclui temas que atravessam pods. N01 e N03 não devem ser confundidas, embora relacionadas à #117. N06 trata credenciais do perfil dev de Infra e não decide o token da API. N07 é a decisão do ADR. N08 registra o calendário oficial da transição do runner e a necessidade de conferir a imagem usada no run, sem afirmar que a migração já foi provada no APEX. Não precisamos abrir uma issue nova para cada minuta antes de discutir prioridade e destino.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documental: 20/10/2026. Main c3c3ea3.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https://github.com/luanmorenommaciel/apex/blob/15ab9dc2b587cb187a0413843761db3ec256da4e/docs/reviews/pod3-20261019/DESTINOS-MINUTAS.md</a:t>
            </a:r>
          </a:p>
          <a:p xmlns:a="http://schemas.openxmlformats.org/drawingml/2006/main">
            <a:r>
              <a:t>https://github.com/luanmorenommaciel/apex/issues/117</a:t>
            </a:r>
          </a:p>
          <a:p xmlns:a="http://schemas.openxmlformats.org/drawingml/2006/main">
            <a:r>
              <a:t>https://github.com/luanmorenommaciel/apex/blob/15ab9dc2b587cb187a0413843761db3ec256da4e/docs/reviews/pod3-20261019/minutas/README.md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metade reúne processo e hipóteses/revisões do Serve. N11 não significa que o MCP atual esteja errado e não está aprovada. N12 é uma leitura do predicado de atribuição, sem incidente real alegado. N13 trata read_only_gate, não deve herdar propriedades da limpeza implementada em outro gate. N15 acrescenta uma pergunta de custo à #156, com vínculo ao job correto. N16 pede reconciliar a lista e o controle, não uma troca mecânica de 7 para 8. N09 conserva o histórico e precisa de uma regra explícita. N10 exige coordenação com a documentação já em revisão.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documental: 20/10/2026. Main c3c3ea3.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https://github.com/luanmorenommaciel/apex/blob/15ab9dc2b587cb187a0413843761db3ec256da4e/docs/reviews/pod3-20261019/DESTINOS-MINUTAS.md</a:t>
            </a:r>
          </a:p>
          <a:p xmlns:a="http://schemas.openxmlformats.org/drawingml/2006/main">
            <a:r>
              <a:t>https://github.com/luanmorenommaciel/apex/issues/181</a:t>
            </a:r>
          </a:p>
          <a:p xmlns:a="http://schemas.openxmlformats.org/drawingml/2006/main">
            <a:r>
              <a:t>https://github.com/luanmorenommaciel/apex/issues/156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revalidação inclui 15 PRs abertos e 78 encerrados. Nos históricos, o confronto é documental, não code review completo de todos os patches. A concordância de modelos não foi usada como prova. O time mantém autoridade sobre revisão e integração.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documental: 20/10/2026. Main c3c3ea3.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https://github.com/luanmorenommaciel/apex/blob/faf8b5723abd7cd0905137e574d515216f74d287/docs/reviews/pr-revalidation-20261019/README.md</a:t>
            </a:r>
          </a:p>
          <a:p xmlns:a="http://schemas.openxmlformats.org/drawingml/2006/main">
            <a:r>
              <a:t>https://github.com/luanmorenommaciel/apex/pull/186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Links para abrir conforme a pergunta: https://github.com/luanmorenommaciel/apex/issues/181 ; https://github.com/luanmorenommaciel/apex/pull/183 ; https://github.com/luanmorenommaciel/apex/pull/184 ; https://github.com/luanmorenommaciel/apex/issues/156 ; https://github.com/luanmorenommaciel/apex/issues/172 . O recorte da main é c3c3ea3b7b8ac13751b6c9790a57ee39dbaec874. Fatos históricos, relatos de execução, propostas e decisões humanas mantêm suas distinções. A apresentação é minha visão para discussão e pode receber correções e complementos do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documental: 20/10/2026. Main c3c3ea3.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https://github.com/luanmorenommaciel/apex/issues/181</a:t>
            </a:r>
          </a:p>
          <a:p xmlns:a="http://schemas.openxmlformats.org/drawingml/2006/main">
            <a:r>
              <a:t>https://github.com/luanmorenommaciel/apex/pull/183</a:t>
            </a:r>
          </a:p>
          <a:p xmlns:a="http://schemas.openxmlformats.org/drawingml/2006/main">
            <a:r>
              <a:t>https://github.com/luanmorenommaciel/apex/pull/184</a:t>
            </a:r>
          </a:p>
          <a:p xmlns:a="http://schemas.openxmlformats.org/drawingml/2006/main">
            <a:r>
              <a:t>https://github.com/luanmorenommaciel/apex/issues/156</a:t>
            </a:r>
          </a:p>
          <a:p xmlns:a="http://schemas.openxmlformats.org/drawingml/2006/main">
            <a:r>
              <a:t>https://github.com/luanmorenommaciel/apex/issues/172</a:t>
            </a:r>
          </a:p>
          <a:p xmlns:a="http://schemas.openxmlformats.org/drawingml/2006/main">
            <a:r>
              <a:t>https://github.com/luanmorenommaciel/apex/blob/faf8b5723abd7cd0905137e574d515216f74d287/docs/reviews/pr-revalidation-20261019/README.md</a:t>
            </a:r>
          </a:p>
          <a:p xmlns:a="http://schemas.openxmlformats.org/drawingml/2006/main">
            <a:r>
              <a:t>https://github.com/luanmorenommaciel/apex/issues/188</a:t>
            </a:r>
          </a:p>
          <a:p xmlns:a="http://schemas.openxmlformats.org/drawingml/2006/main">
            <a:r>
              <a:t>https://github.com/luanmorenommaciel/apex/issues/190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36350bc2a241a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d4330f39e8425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023c95e0bf4f5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6d4bc21c534e7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1bce02a23e410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95dec5e49346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C1A6F6-7969-464C-B296-9036B2CF35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73E588F-BA54-4E98-8685-6799F0997D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0BD1C83-AE2F-42FE-81B8-81C4AEBC80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D56C0B-74C2-40C7-B048-2DC07D1625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03089CE-19F2-4B06-93DE-A648701E9C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4ACFFD1-C0C3-4400-9A25-B7C2FC10A6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6B6C8D-110F-4A15-B0C2-676016C2E1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51C6E74-3652-44EC-A9AA-8C15C1A7C59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83A95A6-B067-4E18-9E47-D728DE6A31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0EBC3F6-DE8A-4F4B-920D-62FAD49A45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97f642e9b34556" /><Relationship Type="http://schemas.openxmlformats.org/officeDocument/2006/relationships/slideLayout" Target="/ppt/slideLayouts/slideLayout1.xml" Id="R0ca1538c95b14f71" /><Relationship Type="http://schemas.openxmlformats.org/officeDocument/2006/relationships/slideLayout" Target="/ppt/slideLayouts/slideLayout2.xml" Id="R7295ca9bb61247a9" /><Relationship Type="http://schemas.openxmlformats.org/officeDocument/2006/relationships/slideLayout" Target="/ppt/slideLayouts/slideLayout3.xml" Id="Ra63ea78372c84232" /><Relationship Type="http://schemas.openxmlformats.org/officeDocument/2006/relationships/slideLayout" Target="/ppt/slideLayouts/slideLayout4.xml" Id="Rbebbd4abd7ea4047" /><Relationship Type="http://schemas.openxmlformats.org/officeDocument/2006/relationships/slideLayout" Target="/ppt/slideLayouts/slideLayout5.xml" Id="R1435d3d475c04c2e" /><Relationship Type="http://schemas.openxmlformats.org/officeDocument/2006/relationships/slideLayout" Target="/ppt/slideLayouts/slideLayout6.xml" Id="Rbc7bc7415e024c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a1538c95b14f71"/>
    <p:sldLayoutId xmlns:r="http://schemas.openxmlformats.org/officeDocument/2006/relationships" id="2147483650" r:id="R7295ca9bb61247a9"/>
    <p:sldLayoutId xmlns:r="http://schemas.openxmlformats.org/officeDocument/2006/relationships" id="2147483651" r:id="Ra63ea78372c84232"/>
    <p:sldLayoutId xmlns:r="http://schemas.openxmlformats.org/officeDocument/2006/relationships" id="2147483652" r:id="Rbebbd4abd7ea4047"/>
    <p:sldLayoutId xmlns:r="http://schemas.openxmlformats.org/officeDocument/2006/relationships" id="2147483653" r:id="R1435d3d475c04c2e"/>
    <p:sldLayoutId xmlns:r="http://schemas.openxmlformats.org/officeDocument/2006/relationships" id="2147483654" r:id="Rbc7bc7415e024c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c4cb0bd5b34cc8" /><Relationship Type="http://schemas.openxmlformats.org/officeDocument/2006/relationships/hyperlink" Target="https://github.com/luanmorenommaciel/apex/issues/181" TargetMode="External" Id="Rb73b3ef75a214095" /><Relationship Type="http://schemas.openxmlformats.org/officeDocument/2006/relationships/notesSlide" Target="/ppt/notesSlides/notesSlide1.xml" Id="R7e230d1e738c4a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03d032bd0a4801" /><Relationship Type="http://schemas.openxmlformats.org/officeDocument/2006/relationships/hyperlink" Target="https://github.com/luanmorenommaciel/apex/issues/181" TargetMode="External" Id="Rabeb647dd730402f" /><Relationship Type="http://schemas.openxmlformats.org/officeDocument/2006/relationships/notesSlide" Target="/ppt/notesSlides/notesSlide2.xml" Id="R03999427a1e540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5b125a578e4ba7" /><Relationship Type="http://schemas.openxmlformats.org/officeDocument/2006/relationships/hyperlink" Target="https://github.com/luanmorenommaciel/apex/issues/181" TargetMode="External" Id="R7c72c367bf2843de" /><Relationship Type="http://schemas.openxmlformats.org/officeDocument/2006/relationships/notesSlide" Target="/ppt/notesSlides/notesSlide3.xml" Id="Rdccf40ef531a42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9295ba938b490d" /><Relationship Type="http://schemas.openxmlformats.org/officeDocument/2006/relationships/hyperlink" Target="https://github.com/luanmorenommaciel/apex/issues/181" TargetMode="External" Id="R5aa51385a03a47c3" /><Relationship Type="http://schemas.openxmlformats.org/officeDocument/2006/relationships/notesSlide" Target="/ppt/notesSlides/notesSlide4.xml" Id="R7306aafe313347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748a3f81914671" /><Relationship Type="http://schemas.openxmlformats.org/officeDocument/2006/relationships/hyperlink" Target="https://github.com/luanmorenommaciel/apex/issues/181" TargetMode="External" Id="R6d79f54c9d104b39" /><Relationship Type="http://schemas.openxmlformats.org/officeDocument/2006/relationships/notesSlide" Target="/ppt/notesSlides/notesSlide5.xml" Id="Rca38ebc2ee3145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5e2916512942e3" /><Relationship Type="http://schemas.openxmlformats.org/officeDocument/2006/relationships/hyperlink" Target="https://github.com/luanmorenommaciel/apex/issues/181" TargetMode="External" Id="Rfcd3b9639d614e14" /><Relationship Type="http://schemas.openxmlformats.org/officeDocument/2006/relationships/notesSlide" Target="/ppt/notesSlides/notesSlide6.xml" Id="Rb044590cf0d145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15f948e5ba44d0" /><Relationship Type="http://schemas.openxmlformats.org/officeDocument/2006/relationships/hyperlink" Target="https://github.com/luanmorenommaciel/apex/issues/181" TargetMode="External" Id="R6219fa54fc234c2f" /><Relationship Type="http://schemas.openxmlformats.org/officeDocument/2006/relationships/notesSlide" Target="/ppt/notesSlides/notesSlide7.xml" Id="Red2800e094364e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561fa6955e4b81" /><Relationship Type="http://schemas.openxmlformats.org/officeDocument/2006/relationships/hyperlink" Target="https://github.com/luanmorenommaciel/apex/issues/181" TargetMode="External" Id="R2f130e71a9cc45a5" /><Relationship Type="http://schemas.openxmlformats.org/officeDocument/2006/relationships/notesSlide" Target="/ppt/notesSlides/notesSlide8.xml" Id="R5d782671a54c41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cff1049c5f40d6" /><Relationship Type="http://schemas.openxmlformats.org/officeDocument/2006/relationships/hyperlink" Target="https://github.com/luanmorenommaciel/apex/issues/181" TargetMode="External" Id="Rc95e05dd60ca46c2" /><Relationship Type="http://schemas.openxmlformats.org/officeDocument/2006/relationships/notesSlide" Target="/ppt/notesSlides/notesSlide9.xml" Id="R8f00b7d63bde40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ecd7cf327a4b64" /><Relationship Type="http://schemas.openxmlformats.org/officeDocument/2006/relationships/hyperlink" Target="https://github.com/luanmorenommaciel/apex/issues/181" TargetMode="External" Id="R91fd63a43aff4cf9" /><Relationship Type="http://schemas.openxmlformats.org/officeDocument/2006/relationships/notesSlide" Target="/ppt/notesSlides/notesSlide10.xml" Id="Rf7893780032f4b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6da4cb35ad404d" /><Relationship Type="http://schemas.openxmlformats.org/officeDocument/2006/relationships/hyperlink" Target="https://github.com/luanmorenommaciel/apex/issues/181" TargetMode="External" Id="R01b770be6ce24856" /><Relationship Type="http://schemas.openxmlformats.org/officeDocument/2006/relationships/notesSlide" Target="/ppt/notesSlides/notesSlide11.xml" Id="R45e397146f6e412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f052e8660f472d" /><Relationship Type="http://schemas.openxmlformats.org/officeDocument/2006/relationships/hyperlink" Target="https://github.com/luanmorenommaciel/apex/issues/181" TargetMode="External" Id="R2ba11455ffe44f03" /><Relationship Type="http://schemas.openxmlformats.org/officeDocument/2006/relationships/notesSlide" Target="/ppt/notesSlides/notesSlide12.xml" Id="R34f96b16507d4f9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4c2faad97e49cb" /><Relationship Type="http://schemas.openxmlformats.org/officeDocument/2006/relationships/hyperlink" Target="https://github.com/luanmorenommaciel/apex/issues/181" TargetMode="External" Id="Rb049dc2c6aa84c74" /><Relationship Type="http://schemas.openxmlformats.org/officeDocument/2006/relationships/notesSlide" Target="/ppt/notesSlides/notesSlide13.xml" Id="R73850f4032ae444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7d8d7ae9bf42e2" /><Relationship Type="http://schemas.openxmlformats.org/officeDocument/2006/relationships/hyperlink" Target="https://github.com/luanmorenommaciel/apex/issues/181" TargetMode="External" Id="Rbc6efb73c5b94590" /><Relationship Type="http://schemas.openxmlformats.org/officeDocument/2006/relationships/notesSlide" Target="/ppt/notesSlides/notesSlide14.xml" Id="R00c8503af19d406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d0118e8b0944e2" /><Relationship Type="http://schemas.openxmlformats.org/officeDocument/2006/relationships/hyperlink" Target="https://github.com/luanmorenommaciel/apex/issues/181" TargetMode="External" Id="R771b47dd89c14cc4" /><Relationship Type="http://schemas.openxmlformats.org/officeDocument/2006/relationships/notesSlide" Target="/ppt/notesSlides/notesSlide15.xml" Id="R24f07919697e460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2a68a8f3fe4b02" /><Relationship Type="http://schemas.openxmlformats.org/officeDocument/2006/relationships/hyperlink" Target="https://github.com/luanmorenommaciel/apex/issues/181" TargetMode="External" Id="R4dd8641a56a24a53" /><Relationship Type="http://schemas.openxmlformats.org/officeDocument/2006/relationships/notesSlide" Target="/ppt/notesSlides/notesSlide16.xml" Id="Ra25d388dda9e48b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dedd60a07e4383" /><Relationship Type="http://schemas.openxmlformats.org/officeDocument/2006/relationships/hyperlink" Target="https://github.com/luanmorenommaciel/apex/issues/181" TargetMode="External" Id="R069d603b32eb4ec5" /><Relationship Type="http://schemas.openxmlformats.org/officeDocument/2006/relationships/notesSlide" Target="/ppt/notesSlides/notesSlide17.xml" Id="R7cde704b94c74f1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9e2ef7a8e14dc2" /><Relationship Type="http://schemas.openxmlformats.org/officeDocument/2006/relationships/hyperlink" Target="https://github.com/luanmorenommaciel/apex/issues/181" TargetMode="External" Id="R0f63f11851c8477c" /><Relationship Type="http://schemas.openxmlformats.org/officeDocument/2006/relationships/notesSlide" Target="/ppt/notesSlides/notesSlide18.xml" Id="Re37a9873f51940b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d3c7b6560f4790" /><Relationship Type="http://schemas.openxmlformats.org/officeDocument/2006/relationships/hyperlink" Target="https://github.com/luanmorenommaciel/apex/issues/181" TargetMode="External" Id="Rd277fcec24c14125" /><Relationship Type="http://schemas.openxmlformats.org/officeDocument/2006/relationships/notesSlide" Target="/ppt/notesSlides/notesSlide19.xml" Id="Rf47b87860bc8447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49871f559d4033" /><Relationship Type="http://schemas.openxmlformats.org/officeDocument/2006/relationships/hyperlink" Target="https://github.com/luanmorenommaciel/apex/issues/181" TargetMode="External" Id="R661e2a8fa4334616" /><Relationship Type="http://schemas.openxmlformats.org/officeDocument/2006/relationships/notesSlide" Target="/ppt/notesSlides/notesSlide20.xml" Id="Rc6b5b06715f34a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C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F991E6-BBC4-4042-8203-C81F3431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1">
                <a:solidFill>
                  <a:srgbClr val="55C7C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55C7C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55C7C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55C7C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55C7C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55C7C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55C7C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55C7C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55C7C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55C7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55C7C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5C7CB"/>
                </a:solidFill>
                <a:latin typeface="Arial"/>
                <a:ea typeface="Arial"/>
                <a:cs typeface="Arial"/>
              </a:rPr>
              <a:t>APEX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BDFB11-F041-4616-AFF0-9BFF83EE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Pod 3 / Serve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3D13BC-00CA-4201-AA7B-521F40FB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Minhas contribuições e integração com Front e Engine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87B4AD-48FF-41C5-ABBC-1DF28245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0">
                <a:solidFill>
                  <a:srgbClr val="C7D9D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C7D9D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C7D9D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C7D9D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C7D9D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C7D9D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C7D9D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C7D9D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C7D9D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C7D9D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C7D9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7D9DD"/>
                </a:solidFill>
                <a:latin typeface="Arial"/>
                <a:ea typeface="Arial"/>
                <a:cs typeface="Arial"/>
              </a:rPr>
              <a:t>Augusto Cezar</a:t>
            </a:r>
          </a:p>
          <a:p xmlns:a="http://schemas.openxmlformats.org/drawingml/2006/main">
            <a:pPr>
              <a:defRPr sz="1875" b="0">
                <a:solidFill>
                  <a:srgbClr val="C7D9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7D9DD"/>
                </a:solidFill>
                <a:latin typeface="Arial"/>
                <a:ea typeface="Arial"/>
                <a:cs typeface="Arial"/>
              </a:rPr>
              <a:t>Visão para discussão do time em 20/10/2026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A8878-887B-49AB-8354-D6AD4341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650" b="0">
                <a:solidFill>
                  <a:srgbClr val="8DDDE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8DDDE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8DDDE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8DDDE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8DDDE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8DDDE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8DDDE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8DDDE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8DDDE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8DDD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8DDDE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8DDDE0"/>
                </a:solidFill>
                <a:latin typeface="Arial"/>
                <a:ea typeface="Arial"/>
                <a:cs typeface="Arial"/>
                <a:hlinkClick xmlns:r="http://schemas.openxmlformats.org/officeDocument/2006/relationships" r:id="Rb73b3ef75a214095"/>
              </a:rPr>
              <a:t>Contribuições, evidências e próximos passos</a:t>
            </a:r>
          </a:p>
        </p:txBody>
      </p:sp>
    </p:spTree>
    <p:extLst>
      <p:ext uri="{BB962C8B-B14F-4D97-AF65-F5344CB8AC3E}">
        <p14:creationId xmlns:p14="http://schemas.microsoft.com/office/powerpoint/2010/main" val="1253068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4DFB52-135B-4471-96C5-369E7E30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O que a #181 reúne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87D32-9FC7-4778-9F74-CD55A91D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Entregas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29823-57E2-4F1E-B33C-2D901BB5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O que já entrou na main e a autoria de cada contribuição.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D45C1-8CA7-4FFA-9298-465D1B94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Revisão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BD38E-37BB-4F0B-ABD7-D8C81E8D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289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O que as PRs abertas acrescentam e qual é a próxima 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558861-9178-4F6B-8F67-825DB74D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Evidências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92B30-F168-429A-880B-2B4BCC4C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385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Qual árvore foi exercitada e quais limites permanecem.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2251FD-625A-4936-8516-8672A9B8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Propostas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2E3A7-D120-4B47-8A9F-E2549726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482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Alternativas e oportunidades para o time avaliar.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DDFB29-432E-459B-8D66-ACC6F5BB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Esta é uma contribuição ao planejamento. Complementos e correções do time são bem-vindos.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294D0B-51E7-4FAD-9FB9-1673BBC0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66F"/>
                </a:solidFill>
                <a:latin typeface="Arial"/>
                <a:ea typeface="Arial"/>
                <a:cs typeface="Arial"/>
                <a:hlinkClick xmlns:r="http://schemas.openxmlformats.org/officeDocument/2006/relationships" r:id="Rabeb647dd730402f"/>
              </a:rPr>
              <a:t>APEX #181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04D929-074B-4307-8375-61C020B3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913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02 / 20</a:t>
            </a:r>
          </a:p>
        </p:txBody>
      </p:sp>
    </p:spTree>
    <p:extLst>
      <p:ext uri="{BB962C8B-B14F-4D97-AF65-F5344CB8AC3E}">
        <p14:creationId xmlns:p14="http://schemas.microsoft.com/office/powerpoint/2010/main" val="1067349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6E2B46-5951-4882-ADAB-69B4D82E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A base entregue e as contribuições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D3635-F9EE-45D1-A488-FA0CCD5D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Base MCP e evolução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4335D-8572-4217-9084-EC7BF126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A #44 iniciou o MCP somente leitura. Sidymar e Luan ampliaram a superfície e as integrações.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31AFA-DA49-4651-A190-3F8FAD33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API HTTP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10ABBF-59FF-4B85-B1C7-91681E99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289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Sidymar construiu a #129, integrada em 06/10, sobre a camada diagnóstica compartilhada.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42E381-BC1A-440C-805D-6EF9E449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Minha contribuição na #129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7E9A9F-F2F2-4E8B-B2E0-36BD1CD7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385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O commit fab6620 ajustou projeções, database, findings e integração HTTP/same-origin.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C3705B-A51A-401D-91E7-4027901D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Demais contribuições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027E1-AD0D-4A47-A681-18B98366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482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O recorte reúne 11 PRs minhas integradas, incluindo robustez, regressões e documentação.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3E305B-4F9A-4B3F-8027-1290D17C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Autoria da implementação principal da #129: Sidymar. Minha contribuição de integração: fab6620.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FB7F2F-FECB-48FE-97E0-ED3973D7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66F"/>
                </a:solidFill>
                <a:latin typeface="Arial"/>
                <a:ea typeface="Arial"/>
                <a:cs typeface="Arial"/>
                <a:hlinkClick xmlns:r="http://schemas.openxmlformats.org/officeDocument/2006/relationships" r:id="R7c72c367bf2843de"/>
              </a:rPr>
              <a:t>APEX #181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F2537F-FB41-453E-874E-15250B57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913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03 / 20</a:t>
            </a:r>
          </a:p>
        </p:txBody>
      </p:sp>
    </p:spTree>
    <p:extLst>
      <p:ext uri="{BB962C8B-B14F-4D97-AF65-F5344CB8AC3E}">
        <p14:creationId xmlns:p14="http://schemas.microsoft.com/office/powerpoint/2010/main" val="20488885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5E237-1B5E-435C-B420-B8A4A37A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MCP e HTTP no estado integrado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0E21E0-BCCF-4219-BBFE-77669EF5390D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3619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429125"/>
                <a:gridCol w="4152900"/>
              </a:tblGrid>
              <a:tr h="55245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Superfície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Papel no Serve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Limite da leitura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</a:tr>
              <a:tr h="102235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MCP stdio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Expõe as oito tools contratadas.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A lista não significa cobertura universal de parâmetros.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2235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API HTTP v1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Compartilha a camada diagnóstica com o MCP.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API existente não decide sozinha o contrato do Ask.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</a:tr>
              <a:tr h="102235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Console no perfil HTTP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Usa o percurso de API/same-origin documentado.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#153/#182 já têm provas. Reconciliar os recibos com os critérios #172.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5851F4-955D-460C-A339-DAE763A7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Base documental: main c3c3ea3. As propostas futuras ficam identificadas separadamente.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13CAE-AAA4-4E96-B937-A6B2C4B0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66F"/>
                </a:solidFill>
                <a:latin typeface="Arial"/>
                <a:ea typeface="Arial"/>
                <a:cs typeface="Arial"/>
                <a:hlinkClick xmlns:r="http://schemas.openxmlformats.org/officeDocument/2006/relationships" r:id="R5aa51385a03a47c3"/>
              </a:rPr>
              <a:t>APEX #181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B610F5-6CAC-431A-8E5B-98B32835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913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04 / 20</a:t>
            </a:r>
          </a:p>
        </p:txBody>
      </p:sp>
    </p:spTree>
    <p:extLst>
      <p:ext uri="{BB962C8B-B14F-4D97-AF65-F5344CB8AC3E}">
        <p14:creationId xmlns:p14="http://schemas.microsoft.com/office/powerpoint/2010/main" val="14472044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508D7-5EB4-4049-8E36-81F9B43C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As cinco PRs do Serve em revisão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72E61-D798-45D6-9753-59511A5F78C7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3905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762000"/>
                <a:gridCol w="4095750"/>
                <a:gridCol w="2724150"/>
                <a:gridCol w="3238500"/>
              </a:tblGrid>
              <a:tr h="55245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 que acrescenta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Evidência no snapshot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Próxima ação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</a:tr>
              <a:tr h="67056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#157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Paridade das oito tools e controles de ausência.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11 checks verdes em 09/10.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Revisão técnica e integração.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#158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Regressão de ordenação dos findings.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11 checks verdes em 09/10.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Coordenar regressão com #182.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</a:tr>
              <a:tr h="67056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#159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Diagnóstico e limpeza no gate da Console.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11 checks verdes em 09/10.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Coordenar gate e limpeza com #182.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#163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Três positivos de search_kb / plan_json.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Sem checks no head consultado.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Resolver a pilha com #157.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</a:tr>
              <a:tr h="67056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#164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Alinhamento dos READMEs ao contrato.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Sem checks no head consultado.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Revisão documental.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0AC0A-2010-4433-9AC4-2E1698BD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Checks reconferidos em 20/10 nos heads individuais. #163 tem base na branch da #157.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8BFD4-E980-4A34-8876-E93AB815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66F"/>
                </a:solidFill>
                <a:latin typeface="Arial"/>
                <a:ea typeface="Arial"/>
                <a:cs typeface="Arial"/>
                <a:hlinkClick xmlns:r="http://schemas.openxmlformats.org/officeDocument/2006/relationships" r:id="R6d79f54c9d104b39"/>
              </a:rPr>
              <a:t>APEX #181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439A9-D945-497E-8B3F-241D82DE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913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05 / 20</a:t>
            </a:r>
          </a:p>
        </p:txBody>
      </p:sp>
    </p:spTree>
    <p:extLst>
      <p:ext uri="{BB962C8B-B14F-4D97-AF65-F5344CB8AC3E}">
        <p14:creationId xmlns:p14="http://schemas.microsoft.com/office/powerpoint/2010/main" val="1882002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788FC4-252C-47F4-B035-A8FD7133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Evidências do Serve e da Console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6430B-80B0-473A-A69E-3225F5038AB9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3619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4429125"/>
                <a:gridCol w="4295775"/>
              </a:tblGrid>
              <a:tr h="55245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Registro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 que sustenta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Próxima conferência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</a:tr>
              <a:tr h="766763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#156 / #159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572 combinados, G1 19 PASS e transporte real no escopo dos recibos.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Preservar árvores, parâmetros e corte F1c de cada prova.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6763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#153 / histórico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Três jobs reais até o App, com Vitest/jsdom e API direta.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Reaproveitar a evidência já apresentada pelo Agmar.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</a:tr>
              <a:tr h="766763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#182 / branch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Live refused_count=3, gate 17/17 e suítes Front/Serve relatadas.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Confrontar os casos com a combinação escolhida.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6763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Imagem / #172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Imagem em fixtures e relato adicional de E2E via nginx.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Reconciliar o recibo antes de pedir eventual complemento.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8D7FD-6F00-42EB-8401-ED919D41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As provas locais são relatos dos autores. Esta preparação não executou produto.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4F34F2-9967-4727-86D5-0E00FA60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66F"/>
                </a:solidFill>
                <a:latin typeface="Arial"/>
                <a:ea typeface="Arial"/>
                <a:cs typeface="Arial"/>
                <a:hlinkClick xmlns:r="http://schemas.openxmlformats.org/officeDocument/2006/relationships" r:id="Rfcd3b9639d614e14"/>
              </a:rPr>
              <a:t>APEX #181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02953-52E1-442F-9E09-A7306778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913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06 / 20</a:t>
            </a:r>
          </a:p>
        </p:txBody>
      </p:sp>
    </p:spTree>
    <p:extLst>
      <p:ext uri="{BB962C8B-B14F-4D97-AF65-F5344CB8AC3E}">
        <p14:creationId xmlns:p14="http://schemas.microsoft.com/office/powerpoint/2010/main" val="559379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00E2B-12C1-46A3-9375-7D5863CA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Ask: alternativas para a decisão #122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1019D-4FB8-4A3F-BA18-100F43A5EACB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3619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3524250"/>
                <a:gridCol w="4533900"/>
              </a:tblGrid>
              <a:tr h="55245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Alternativa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Possível benefício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 que precisamos comparar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</a:tr>
              <a:tr h="102235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Adaptar a API existente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Reaproveitar rotas e serviços já entregues.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Casos do Ask, composição no Front e compatibilidade.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2235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Fachada Ask interna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Explicitar envelope e composição no mesmo FastAPI.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Contrato, identidade, erros e responsabilidade do adaptador.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</a:tr>
              <a:tr h="102235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Adiar a nova superfície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Preservar o contrato atual e registrar a condição de retomada.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Limites do produto e custo de oportunidade.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183A3D-7B2D-457A-AA32-E74C9898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A e B podem coexistir. A fachada não obriga outro deployment. #171 trata a política de token/schema da API v1.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38D21-DBF5-4194-B1F8-A44EBF2E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66F"/>
                </a:solidFill>
                <a:latin typeface="Arial"/>
                <a:ea typeface="Arial"/>
                <a:cs typeface="Arial"/>
                <a:hlinkClick xmlns:r="http://schemas.openxmlformats.org/officeDocument/2006/relationships" r:id="R6219fa54fc234c2f"/>
              </a:rPr>
              <a:t>APEX #181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2358F4-1506-4F17-B2D9-5AB8F354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913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07 / 20</a:t>
            </a:r>
          </a:p>
        </p:txBody>
      </p:sp>
    </p:spTree>
    <p:extLst>
      <p:ext uri="{BB962C8B-B14F-4D97-AF65-F5344CB8AC3E}">
        <p14:creationId xmlns:p14="http://schemas.microsoft.com/office/powerpoint/2010/main" val="15636087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AE558A-07E2-4BF1-9EB6-B6BF3F62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As 23 tarefas L1 foram reconciliadas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7606E-2732-4FFD-8E93-A9EF83B6F1CA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40576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571875"/>
                <a:gridCol w="1143000"/>
                <a:gridCol w="6105525"/>
              </a:tblGrid>
              <a:tr h="55245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Grupo das 21 specs ready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Itens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Encaminhamento proposto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</a:tr>
              <a:tr h="58420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Núcleo apex_status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Decidir intenção, superfície e próxima entrega por item.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Metas antigas de cinco tools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Reconciliar controles com o contrato atual de oito tools.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</a:tr>
              <a:tr h="58420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Ajustes independentes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Separar política de mensagem e refatorações.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Tooling local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Decidir se permanece no escopo versionado.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</a:tr>
              <a:tr h="58420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Distribuição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Definir canal, nome, versão e conteúdo do pacote.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Configuração de clientes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Conferir caminho, escopo e verificação por cliente.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5E85A2-48DD-4A19-A14E-4F7B8D1C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Além dessas 21 ready, há 2 done/accepted: ServerStatus e store_health. Ready não demonstra ausência de código.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5685C-81C4-430A-9857-72CEC32B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66F"/>
                </a:solidFill>
                <a:latin typeface="Arial"/>
                <a:ea typeface="Arial"/>
                <a:cs typeface="Arial"/>
                <a:hlinkClick xmlns:r="http://schemas.openxmlformats.org/officeDocument/2006/relationships" r:id="R2f130e71a9cc45a5"/>
              </a:rPr>
              <a:t>APEX #181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7C39C1-26C2-4DEE-83FD-A697392D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913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08 / 20</a:t>
            </a:r>
          </a:p>
        </p:txBody>
      </p:sp>
    </p:spTree>
    <p:extLst>
      <p:ext uri="{BB962C8B-B14F-4D97-AF65-F5344CB8AC3E}">
        <p14:creationId xmlns:p14="http://schemas.microsoft.com/office/powerpoint/2010/main" val="14423603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4B08A8-0822-4661-88E5-1FF5A6F0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Oportunidades para o time avaliar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0CF88-0056-45AA-B779-5A354E1C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Grafo MCP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7F82B-0353-4857-8AFB-29DFEC04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A #107 segue como estudo. A implementação depende da decisão de schema na #106.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BF47CE-8123-46DD-A96A-A7A641C5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Leituras e explicações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2E639-D73D-41AF-8BD0-D3218919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289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Compare entre versões, recall com configuração desconhecida e narração AQE (#177).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BB029-3CEF-40D2-9FA5-46A02E9E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Contratos e regressões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DECAC-5395-4118-89A1-235CB148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385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Piso de ruído (#117), timestamps inválidos, custo por job e limpeza dos gates.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55028B-0E25-431E-8471-223804E7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Operação e adoção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AE7695-321C-49ED-B7B8-57AC3414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482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Guias por cliente, distribuição, runbooks e rastreabilidade das provas.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27A29B-6854-4C26-BD94-DB188B7A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Propostas documentadas não implicam prioridade ou implementação aprovadas. Cada tema tem escopo e aceite próprios.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71D25-D731-4B15-BF37-7D7FB082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66F"/>
                </a:solidFill>
                <a:latin typeface="Arial"/>
                <a:ea typeface="Arial"/>
                <a:cs typeface="Arial"/>
                <a:hlinkClick xmlns:r="http://schemas.openxmlformats.org/officeDocument/2006/relationships" r:id="Rc95e05dd60ca46c2"/>
              </a:rPr>
              <a:t>APEX #181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32FFD5-CA5D-4A38-8652-11F687C7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913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09 / 20</a:t>
            </a:r>
          </a:p>
        </p:txBody>
      </p:sp>
    </p:spTree>
    <p:extLst>
      <p:ext uri="{BB962C8B-B14F-4D97-AF65-F5344CB8AC3E}">
        <p14:creationId xmlns:p14="http://schemas.microsoft.com/office/powerpoint/2010/main" val="8698333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8CB09D-22C5-4063-A61C-7299D476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A #182 implementa mudanças no Serve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D0E88-BEA0-4B38-9C62-4FB2C53B106E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3619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05000"/>
                <a:gridCol w="4762500"/>
                <a:gridCol w="4152900"/>
              </a:tblGrid>
              <a:tr h="55245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Superfície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Implementação do Agmar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Coordenação proposta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</a:tr>
              <a:tr h="102235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Front e Serve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Console somente API, hardening e consultas centralizadas no Serve.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Revisão conjunta da branch, ainda fora da main.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2235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#158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A mudança remove símbolos usados pelo controle de ordenação.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Adaptar o teste e preservar a regressão na combinação.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</a:tr>
              <a:tr h="102235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#159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Consultas, helpers e gate mudam na mesma superfície.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Preservar diagnóstico, paridade e limpeza pertinentes.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28ECD-2198-49D2-A8AD-548DE752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Implementação e provas existem. Sobreposição não demonstra conflito textual inevitável.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9276D-149F-489A-A7E6-1A8CC51E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66F"/>
                </a:solidFill>
                <a:latin typeface="Arial"/>
                <a:ea typeface="Arial"/>
                <a:cs typeface="Arial"/>
                <a:hlinkClick xmlns:r="http://schemas.openxmlformats.org/officeDocument/2006/relationships" r:id="R91fd63a43aff4cf9"/>
              </a:rPr>
              <a:t>APEX #181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E6558B-5DCE-404B-BB3F-318742B2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913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10 / 20</a:t>
            </a:r>
          </a:p>
        </p:txBody>
      </p:sp>
    </p:spTree>
    <p:extLst>
      <p:ext uri="{BB962C8B-B14F-4D97-AF65-F5344CB8AC3E}">
        <p14:creationId xmlns:p14="http://schemas.microsoft.com/office/powerpoint/2010/main" val="2181416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7D091-F03D-41DD-91F9-4DDFC8F2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A #185 conecta operação e consumidores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06F99-C0EF-4DDA-A608-646E7936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Autoria e estado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6E856-3874-43C0-97DC-B28F1C48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Contribuição do Agmar na interface do Pod 3, aberta e fora da main.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E1FE8-2009-4970-8E8B-43EE1B42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Implementação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3494D-E40B-4217-9AC7-E5A0D821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289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DEV, S3, runners e fingerprint já têm melhorias na branch.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145200-9FD9-4524-B56F-B0E4F25C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Reaproveitamento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E64D1-D99A-43E1-A2C8-811AF90A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385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Comparar #167 e critérios #174/#178 antes de criar variante paralela.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BF0D4D-1243-4361-A633-FD668739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Provas com alcance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C674E4-0110-42E4-A261-2D6B481E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482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106 testes offline e quatro cenários live relatados não encerram todo critério de benchmark ou tail-outlier.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635196-5C23-4F27-A928-FF9FB49D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Quatro checks verdes e zero reviews formais no corte de 20/10. Revisão humana continua necessária.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51E193-2856-49F1-9423-4D612AB5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66F"/>
                </a:solidFill>
                <a:latin typeface="Arial"/>
                <a:ea typeface="Arial"/>
                <a:cs typeface="Arial"/>
                <a:hlinkClick xmlns:r="http://schemas.openxmlformats.org/officeDocument/2006/relationships" r:id="R01b770be6ce24856"/>
              </a:rPr>
              <a:t>APEX #181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E68CCC-5299-48A6-AF01-C6076922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913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11 / 20</a:t>
            </a:r>
          </a:p>
        </p:txBody>
      </p:sp>
    </p:spTree>
    <p:extLst>
      <p:ext uri="{BB962C8B-B14F-4D97-AF65-F5344CB8AC3E}">
        <p14:creationId xmlns:p14="http://schemas.microsoft.com/office/powerpoint/2010/main" val="1670977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71C0C-BAAE-464E-BEBE-EB1C3875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Privacidade e governança têm decisões próprias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27665E-8704-47D6-B268-D02BDE723DF7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3619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19375"/>
                <a:gridCol w="4286250"/>
                <a:gridCol w="3914775"/>
              </a:tblGrid>
              <a:tr h="55245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Tema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Material preparado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Decisão pendente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</a:tr>
              <a:tr h="102235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ADR-004 / N07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Cinco perguntas sobre locator, configuração, notebook, payload e consumidor.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Aceitar, revisar, adiar ou rejeitar com justificativa.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2235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Task-Specs / N09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Regra proposta para status, implementação, recibo e aceite.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Semântica de done/accepted e quem atualiza/revisa.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</a:tr>
              <a:tr h="102235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Três manifestos YAML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Correção sintática na #184, com os textos preservados.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Revisão e integração da mudança documental.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12EE91-088D-41C2-A0AC-C25992C4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A #133 integrou uma proposta de privacidade. O merge não ratifica as cinco decisões do ADR.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16F535-1FCA-4DA9-9B02-2463E7A2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66F"/>
                </a:solidFill>
                <a:latin typeface="Arial"/>
                <a:ea typeface="Arial"/>
                <a:cs typeface="Arial"/>
                <a:hlinkClick xmlns:r="http://schemas.openxmlformats.org/officeDocument/2006/relationships" r:id="R2ba11455ffe44f03"/>
              </a:rPr>
              <a:t>APEX #181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C2A040-A047-4894-AFEB-8CABC17B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913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12 / 20</a:t>
            </a:r>
          </a:p>
        </p:txBody>
      </p:sp>
    </p:spTree>
    <p:extLst>
      <p:ext uri="{BB962C8B-B14F-4D97-AF65-F5344CB8AC3E}">
        <p14:creationId xmlns:p14="http://schemas.microsoft.com/office/powerpoint/2010/main" val="6990948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6E0DAC-15C3-4AD1-A226-CA331A0D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Onboarding e distribuição do Serve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FD9E99-3876-4032-9EEB-D7C3C8B844F4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3619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33625"/>
                <a:gridCol w="4762500"/>
                <a:gridCol w="3724275"/>
              </a:tblGrid>
              <a:tr h="55245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Frente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Complemento disponível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Próximo passo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</a:tr>
              <a:tr h="766763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Claude Code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Guia com .mcp.json no projeto e escopos próprios.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Verificar conexão e comportamento no cliente escolhido.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6763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Cursor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Guia com .cursor/mcp.json e variáveis do Cursor.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Registrar versão, ambiente e resultado.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</a:tr>
              <a:tr h="766763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Codex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Guia TOML em .codex/config.toml ou escopo de usuário.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Conferir trust, variáveis e descoberta.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6763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Distribuição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Etapas separadas: artefato local, TestPyPI e PyPI.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Decidir escopo MCP/API, nome, canal e versão.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C5327-F1EF-435E-8A20-C380ACF8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Guias conferidos documentalmente. A verificação operacional e o release permanecem pendentes.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13DC0-D047-4275-9C73-2FA8E8B4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66F"/>
                </a:solidFill>
                <a:latin typeface="Arial"/>
                <a:ea typeface="Arial"/>
                <a:cs typeface="Arial"/>
                <a:hlinkClick xmlns:r="http://schemas.openxmlformats.org/officeDocument/2006/relationships" r:id="Rb049dc2c6aa84c74"/>
              </a:rPr>
              <a:t>APEX #181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71733-DF30-409A-B643-D6FE37A9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913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13 / 20</a:t>
            </a:r>
          </a:p>
        </p:txBody>
      </p:sp>
    </p:spTree>
    <p:extLst>
      <p:ext uri="{BB962C8B-B14F-4D97-AF65-F5344CB8AC3E}">
        <p14:creationId xmlns:p14="http://schemas.microsoft.com/office/powerpoint/2010/main" val="21158985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5192A-DBE0-4F8E-818C-D90A7BFC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O material da complementação está acessível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5D4A29-486C-49C6-BD2E-605697FB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#183 em rascunho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96AB4-5ABF-4EED-A558-5B0A0B5C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34 arquivos no pacote corrigido, com matrizes, guias, minutas, resumo e ata preenchível.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63AD5-83F6-4886-8CD6-BAE9FFB3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#184 em rascunho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102FBD-CC79-4757-9F4E-6D932A64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289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Correção de sintaxe em três TaskPlans, separada da discussão de governança.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E56C2F-1A1A-4482-AF64-07ED8F53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#181: minha visão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6F3E1-2A63-44FB-BF5C-A2027501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385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Preserva as entregas e aponta os novos documentos e as pendências.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5A65DB-0F21-4B55-8653-03D2D2F6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#186 e revalidação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2946E9-8E6B-47FD-9CB2-CE44DA8D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482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Estudo dos 525 IDs e relatório de 93 PRs. Correções em 17 fichas, sem aceite funcional em lote.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F811B0-DD2A-4067-8E79-6FA2906D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Os links estão públicos para leitura. As PRs documentais aguardam revisão e integração.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EF4F59-4E41-4267-94F5-C2348814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66F"/>
                </a:solidFill>
                <a:latin typeface="Arial"/>
                <a:ea typeface="Arial"/>
                <a:cs typeface="Arial"/>
                <a:hlinkClick xmlns:r="http://schemas.openxmlformats.org/officeDocument/2006/relationships" r:id="Rbc6efb73c5b94590"/>
              </a:rPr>
              <a:t>APEX #181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74FAAE-D8B1-40B8-9F94-6D5B0E80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913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14 / 20</a:t>
            </a:r>
          </a:p>
        </p:txBody>
      </p:sp>
    </p:spTree>
    <p:extLst>
      <p:ext uri="{BB962C8B-B14F-4D97-AF65-F5344CB8AC3E}">
        <p14:creationId xmlns:p14="http://schemas.microsoft.com/office/powerpoint/2010/main" val="19830672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B05EBA-14D7-4069-A931-EDDE0B07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O que gostaria de alinhar com vocês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132E30-0D44-416E-89B9-A2544CE6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Revisão das PRs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7FF76A-240D-41CC-BD5C-64339A2B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Quem pode revisar cada entrega e qual é a próxima ação?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9AFF6-C5AD-47B4-BE69-60242FFB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Integração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976F0-6550-4B09-9FDD-05A91FEF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289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Como combinamos #157/#163 e a relação de #182 com #158/#159?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3AA1D-6DD7-4CF3-A45B-195BC2E7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Decisões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BB999-DE65-4B65-9097-4799397A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385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Qual encaminhamento damos a Ask, token/schema, ADR-004 e grafo?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882FEF-91B2-4CED-94ED-AAADB138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Próximas entregas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02D26-AE73-4677-AFCD-64E45842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482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Quais poucos itens priorizamos, com aceite, responsável e prazo combinados?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A54D8D-0051-482B-A007-31E32D0B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Sugestão de pauta. O time pode aprovar, revisar, adiar ou rejeitar as propostas.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2C6C35-AFBA-400C-BC66-37757CF4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66F"/>
                </a:solidFill>
                <a:latin typeface="Arial"/>
                <a:ea typeface="Arial"/>
                <a:cs typeface="Arial"/>
                <a:hlinkClick xmlns:r="http://schemas.openxmlformats.org/officeDocument/2006/relationships" r:id="R771b47dd89c14cc4"/>
              </a:rPr>
              <a:t>APEX #181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3D4F65-1BF6-4BC2-B749-963FD372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913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15 / 20</a:t>
            </a:r>
          </a:p>
        </p:txBody>
      </p:sp>
    </p:spTree>
    <p:extLst>
      <p:ext uri="{BB962C8B-B14F-4D97-AF65-F5344CB8AC3E}">
        <p14:creationId xmlns:p14="http://schemas.microsoft.com/office/powerpoint/2010/main" val="112562114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47782-1072-4A32-836C-B1220963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Apoio: minhas 11 PRs integradas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FC18DB-7DC3-41D0-83FA-703400A7E450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3905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81250"/>
                <a:gridCol w="3476625"/>
                <a:gridCol w="4962525"/>
              </a:tblGrid>
              <a:tr h="55245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Grupo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PRs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Contribuição no recorte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</a:tr>
              <a:tr h="67056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Base MCP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#44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Primeiro esqueleto MCP somente leitura.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Documentação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#132, #133, #134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Contrato, README e proposta de fronteira de privacidade.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</a:tr>
              <a:tr h="67056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Diagnóstico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#135, #140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Deltas não resolvidos e classificação/probes do ClickHouse.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Piso e projeção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#143, #144, #146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Piso inválido e paridade textual de fix_verifications.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</a:tr>
              <a:tr h="67056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Erros e Front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#150, #151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Sanitização entre transportes e detalhe de erro textual.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D4C481-00F4-47A4-980A-6F4EA4F0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Além dessas 11 PRs, fab6620 é minha contribuição na #129 do Sidymar. Proposta integrada não implica ratificação.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0E2517-29D2-4F70-AE02-A0BBB8F1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66F"/>
                </a:solidFill>
                <a:latin typeface="Arial"/>
                <a:ea typeface="Arial"/>
                <a:cs typeface="Arial"/>
                <a:hlinkClick xmlns:r="http://schemas.openxmlformats.org/officeDocument/2006/relationships" r:id="R4dd8641a56a24a53"/>
              </a:rPr>
              <a:t>APEX #181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D37E1-94FF-4925-AF92-1D69E92D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913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16 / 20</a:t>
            </a:r>
          </a:p>
        </p:txBody>
      </p:sp>
    </p:spTree>
    <p:extLst>
      <p:ext uri="{BB962C8B-B14F-4D97-AF65-F5344CB8AC3E}">
        <p14:creationId xmlns:p14="http://schemas.microsoft.com/office/powerpoint/2010/main" val="9806602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E03A0-2C48-4E26-8BB3-CBBDAD02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Apoio: contratos e governança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23453-658A-41A6-9F01-4049B879A607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190625"/>
                <a:gridCol w="5238750"/>
                <a:gridCol w="4391025"/>
              </a:tblGrid>
              <a:tr h="55245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Minuta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Assunto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Encaminhamento proposto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</a:tr>
              <a:tr h="454819"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N01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Verify: p50 efetivo zero e noise_floor.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Discussão de contrato ligada à #117.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4819"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N02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Atualização do brief VERIFY.md.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Documentação do pod responsável.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</a:tr>
              <a:tr h="454819"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N03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fix_verifications: piso inválido.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Complemento da #117.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4819"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N04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Política de dependências e alertas.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Governança transversal.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</a:tr>
              <a:tr h="454819"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N05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Compare entre versões e findings de job.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Estudo Serve/Engine.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4819"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N06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Fronteira de credenciais S3A dev.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Infra/Engine.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</a:tr>
              <a:tr h="454819"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N07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Cinco decisões do ADR-004.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Decisor do ADR e pods envolvidos.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4819"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N08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Runner Ubuntu 26.04.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Mantenedor de CI e lanes.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99C857-7227-487D-8EE8-3CD477E8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Textos completos no pacote. Encaminhamentos são propostas e não designam pessoas automaticamente.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7C304D-CC6F-4D41-8521-FA0441B7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66F"/>
                </a:solidFill>
                <a:latin typeface="Arial"/>
                <a:ea typeface="Arial"/>
                <a:cs typeface="Arial"/>
                <a:hlinkClick xmlns:r="http://schemas.openxmlformats.org/officeDocument/2006/relationships" r:id="R069d603b32eb4ec5"/>
              </a:rPr>
              <a:t>APEX #181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70979-E8A1-43B1-900D-E689F762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913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17 / 20</a:t>
            </a:r>
          </a:p>
        </p:txBody>
      </p:sp>
    </p:spTree>
    <p:extLst>
      <p:ext uri="{BB962C8B-B14F-4D97-AF65-F5344CB8AC3E}">
        <p14:creationId xmlns:p14="http://schemas.microsoft.com/office/powerpoint/2010/main" val="21243924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482DB-6A4D-4012-B4B1-0B2E5962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Apoio: processo e Serve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F5512-8DC5-49EF-A25A-C5F94FCEAF6B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190625"/>
                <a:gridCol w="5238750"/>
                <a:gridCol w="4391025"/>
              </a:tblGrid>
              <a:tr h="55245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Minuta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Assunto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Encaminhamento proposto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</a:tr>
              <a:tr h="454819"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N09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Status, implementação e aceite das specs.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Governança e piloto L1.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4819"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N10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Contradição list_runs em SERVE-LEGS.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Coordenar documentação com #164.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</a:tr>
              <a:tr h="454819"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N11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MCP direto ao store ou via API.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Estudo separado do Ask.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4819"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N12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Recall: configuração lenta desconhecida.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Revisão com caso discriminante.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</a:tr>
              <a:tr h="454819"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N13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Limpeza do read_only_gate após falha.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Controle próprio, distinto da #159.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4819"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N14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Normalização de timestamps inválidos.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Delimitar domínio e paridade.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</a:tr>
              <a:tr h="454819"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N15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Prova de custo vinculada ao job selecionado.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Complemento da #156.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4819"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N16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Lista do gate stdio versus oito tools.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72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Reconciliar contrato e cobertura.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140F4-67E5-490A-89E1-EEE5EE90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As propostas podem ser implementadas, reformuladas, adiadas ou rejeitadas após análise do time.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ABC70-0D41-4DAC-9067-2A180875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66F"/>
                </a:solidFill>
                <a:latin typeface="Arial"/>
                <a:ea typeface="Arial"/>
                <a:cs typeface="Arial"/>
                <a:hlinkClick xmlns:r="http://schemas.openxmlformats.org/officeDocument/2006/relationships" r:id="R0f63f11851c8477c"/>
              </a:rPr>
              <a:t>APEX #181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AEE41-95CC-4E38-890E-9419AB10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913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18 / 20</a:t>
            </a:r>
          </a:p>
        </p:txBody>
      </p:sp>
    </p:spTree>
    <p:extLst>
      <p:ext uri="{BB962C8B-B14F-4D97-AF65-F5344CB8AC3E}">
        <p14:creationId xmlns:p14="http://schemas.microsoft.com/office/powerpoint/2010/main" val="156756664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B55F7D-E285-45E3-A017-59029B31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O que a revalidação corrigiu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E2206E-BDA9-48A1-A7A0-04550373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Trabalho reconhecido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660B9-E601-46C4-AB87-4ED61EF2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#182/#185 e o E2E histórico da #153 já têm implementação e provas documentadas.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DB52F5-881C-4A29-AD48-BFEA6424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Precisão dos registros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4872D-3BDA-4FC8-B0D7-13AA32EF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289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Autoria, fechamento sem merge, nomes MCP e cortes das evidências corrigidos.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D318C-FD92-4503-81CD-3A85AC43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525 IDs preservados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2F63B6-52C3-4ADE-8A44-58781111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385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17 fichas receberam correções, complementos ou esclarecimentos de escopo.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3BAFC0-79C5-49E1-8AA9-987E0E12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Limite do estudo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F26E32-B454-4B25-B2BE-207251C2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482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93 PRs inventariados com alcance por item. A leitura documental não concede aceite funcional.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DF91FF-4B29-476E-9423-7E2D56B7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As correções atingiram nossos artefatos. Código de produto e main permanecem inalterados.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CB168-2283-41A3-AA06-266BB9A4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66F"/>
                </a:solidFill>
                <a:latin typeface="Arial"/>
                <a:ea typeface="Arial"/>
                <a:cs typeface="Arial"/>
                <a:hlinkClick xmlns:r="http://schemas.openxmlformats.org/officeDocument/2006/relationships" r:id="Rd277fcec24c14125"/>
              </a:rPr>
              <a:t>APEX #181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9AF49C-6F43-466C-80FB-2DBB2EEF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913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19 / 20</a:t>
            </a:r>
          </a:p>
        </p:txBody>
      </p:sp>
    </p:spTree>
    <p:extLst>
      <p:ext uri="{BB962C8B-B14F-4D97-AF65-F5344CB8AC3E}">
        <p14:creationId xmlns:p14="http://schemas.microsoft.com/office/powerpoint/2010/main" val="102980281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99C55E-98CE-43A1-9261-1921DC27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Apoio: onde conferir e complementar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7877B-64AB-472B-AA49-41420371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Minha consolidação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AA77CB-73D9-48A4-81DB-1D87A061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#181 reúne a leitura detalhada, o histórico e os links.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61B557-2F92-4B9C-A6B7-B485B754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Pacote documental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39224-B0B8-4059-B838-FD3564E4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289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#183 contém a leitura curta, a matriz L1, as alternativas e a 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528631-0247-4296-9E37-CA7370E8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Provas e validação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4E1048-819A-49E4-B7F0-89701C8F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385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#156 registra transporte. #153/#182 já têm provas a reconciliar com a #172.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E543C9-C1AA-4B2A-991D-8A12B468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Decisões específicas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E9A30-4129-4005-B613-AEA6F457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482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#122: Ask. #171: schema/token. #106/#107: grafo. ADR-004: origem.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E568F5-FE09-49E3-9398-7520FC1F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Corte documental reconferido em 20/10/2026. Main c3c3ea3. Decisões e prioridades a combinar.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2BD70C-27A9-41C0-9BF7-538902A4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66F"/>
                </a:solidFill>
                <a:latin typeface="Arial"/>
                <a:ea typeface="Arial"/>
                <a:cs typeface="Arial"/>
                <a:hlinkClick xmlns:r="http://schemas.openxmlformats.org/officeDocument/2006/relationships" r:id="R661e2a8fa4334616"/>
              </a:rPr>
              <a:t>APEX #181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07E425-89DA-4DC0-8258-76D1BE6C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913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20 / 20</a:t>
            </a:r>
          </a:p>
        </p:txBody>
      </p:sp>
    </p:spTree>
    <p:extLst>
      <p:ext uri="{BB962C8B-B14F-4D97-AF65-F5344CB8AC3E}">
        <p14:creationId xmlns:p14="http://schemas.microsoft.com/office/powerpoint/2010/main" val="11551806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2026-10-20T10:47:47.9620000Z</dcterms:created>
  <dcterms:modified xsi:type="dcterms:W3CDTF">2026-10-20T10:47:47.9620000Z</dcterms:modified>
</coreProperties>
</file>